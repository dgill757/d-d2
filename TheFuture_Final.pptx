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58" r:id="rId5"/>
    <p:sldId id="259" r:id="rId6"/>
    <p:sldId id="270" r:id="rId20"/>
    <p:sldId id="260" r:id="rId7"/>
    <p:sldId id="261" r:id="rId8"/>
    <p:sldId id="262" r:id="rId9"/>
    <p:sldId id="263" r:id="rId10"/>
    <p:sldId id="271" r:id="rId21"/>
    <p:sldId id="264" r:id="rId11"/>
    <p:sldId id="265" r:id="rId12"/>
    <p:sldId id="268" r:id="rId13"/>
    <p:sldId id="272" r:id="rId22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5" d="100"/>
          <a:sy n="155" d="100"/>
        </p:scale>
        <p:origin x="498" y="3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Summit Voice AI × QualifyOS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83464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D9488"/>
                </a:solidFill>
                <a:latin typeface="Calibri"/>
              </a:defRPr>
            </a:pPr>
            <a:r>
              <a:t>The Future of Customer Service &amp;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566160"/>
            <a:ext cx="9418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1F5F9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What We've Been Building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4160520"/>
            <a:ext cx="2103120" cy="36576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18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1F5F9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Dan Gill  &amp;  David Newsom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/>
              <a:t>February 13, 2026</a:t>
            </a:r>
          </a:p>
        </p:txBody>
      </p:sp>
      <p:sp>
        <p:nvSpPr>
          <p:cNvPr id="8" name="Oval 7"/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Our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1463040" cy="36576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1865376" y="1371600"/>
            <a:ext cx="0" cy="4498848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700784" y="1234440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" y="1234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D9488"/>
                </a:solidFill>
                <a:latin typeface="Calibri"/>
              </a:defRPr>
            </a:pPr>
            <a:r>
              <a:t>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216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Started Summit Marketing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3383" y="1249259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Dan's entrepreneurial foundation</a:t>
            </a:r>
            <a:r>
              <a:rPr lang="en-US" dirty="0">
                <a:solidFill>
                  <a:schemeClr val="tx2"/>
                </a:solidFill>
              </a:rPr>
              <a:t> – Started Summit Marketing Group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700784" y="1984248"/>
            <a:ext cx="310896" cy="310896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19842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6366F1"/>
                </a:solidFill>
                <a:latin typeface="Calibri"/>
              </a:defRPr>
            </a:pPr>
            <a:r>
              <a:t>2023/24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965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Built First Voice AI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965960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lang="en-US" dirty="0">
                <a:solidFill>
                  <a:schemeClr val="tx2"/>
                </a:solidFill>
              </a:rPr>
              <a:t>Started building Voice AI Systems - </a:t>
            </a:r>
            <a:r>
              <a:rPr dirty="0">
                <a:solidFill>
                  <a:schemeClr val="tx2"/>
                </a:solidFill>
              </a:rPr>
              <a:t>The hard way — no plug-and-play shortcuts</a:t>
            </a:r>
          </a:p>
        </p:txBody>
      </p:sp>
      <p:sp>
        <p:nvSpPr>
          <p:cNvPr id="13" name="Oval 12"/>
          <p:cNvSpPr/>
          <p:nvPr/>
        </p:nvSpPr>
        <p:spPr>
          <a:xfrm>
            <a:off x="1700784" y="2734056"/>
            <a:ext cx="310896" cy="310896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273405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D97706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7157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Pitched Aetna on Voice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83383" y="2758272"/>
            <a:ext cx="411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Saw the healthcare opportunity early</a:t>
            </a:r>
          </a:p>
        </p:txBody>
      </p:sp>
      <p:sp>
        <p:nvSpPr>
          <p:cNvPr id="17" name="Oval 16"/>
          <p:cNvSpPr/>
          <p:nvPr/>
        </p:nvSpPr>
        <p:spPr>
          <a:xfrm>
            <a:off x="1700784" y="3483864"/>
            <a:ext cx="310896" cy="310896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" y="348386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59669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4655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Niched Down to Roofing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442082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Found the biggest ROI in home services</a:t>
            </a:r>
            <a:r>
              <a:rPr lang="en-US" dirty="0">
                <a:solidFill>
                  <a:schemeClr val="tx2"/>
                </a:solidFill>
              </a:rPr>
              <a:t> – Niched down with </a:t>
            </a:r>
            <a:r>
              <a:rPr lang="en-US" dirty="0" err="1">
                <a:solidFill>
                  <a:schemeClr val="tx2"/>
                </a:solidFill>
              </a:rPr>
              <a:t>SummitVoiceAI</a:t>
            </a:r>
            <a:r>
              <a:rPr lang="en-US" dirty="0">
                <a:solidFill>
                  <a:schemeClr val="tx2"/>
                </a:solidFill>
              </a:rPr>
              <a:t> into the Roofing Industry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1700784" y="4233672"/>
            <a:ext cx="310896" cy="310896"/>
          </a:xfrm>
          <a:prstGeom prst="ellipse">
            <a:avLst/>
          </a:prstGeom>
          <a:solidFill>
            <a:srgbClr val="38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" y="423367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387AC5"/>
                </a:solidFill>
                <a:latin typeface="Calibri"/>
              </a:defRPr>
            </a:pPr>
            <a:r>
              <a:t>Late 2025 /Early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2153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Built QualifyOS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183148"/>
            <a:ext cx="411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AI-powered sales operating system</a:t>
            </a:r>
            <a:r>
              <a:rPr lang="en-US" dirty="0">
                <a:solidFill>
                  <a:schemeClr val="tx2"/>
                </a:solidFill>
              </a:rPr>
              <a:t> – </a:t>
            </a:r>
            <a:r>
              <a:rPr lang="en-US" dirty="0" err="1">
                <a:solidFill>
                  <a:schemeClr val="tx2"/>
                </a:solidFill>
              </a:rPr>
              <a:t>QualifyOS</a:t>
            </a:r>
            <a:r>
              <a:rPr lang="en-US" dirty="0">
                <a:solidFill>
                  <a:schemeClr val="tx2"/>
                </a:solidFill>
              </a:rPr>
              <a:t> – The only </a:t>
            </a:r>
            <a:r>
              <a:rPr lang="en-US" dirty="0" err="1">
                <a:solidFill>
                  <a:schemeClr val="tx2"/>
                </a:solidFill>
              </a:rPr>
              <a:t>PreCRM</a:t>
            </a:r>
            <a:r>
              <a:rPr lang="en-US" dirty="0">
                <a:solidFill>
                  <a:schemeClr val="tx2"/>
                </a:solidFill>
              </a:rPr>
              <a:t> sales operating system powered by ai for the complete sales cycle.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1700784" y="4983480"/>
            <a:ext cx="310896" cy="310896"/>
          </a:xfrm>
          <a:prstGeom prst="ellipse">
            <a:avLst/>
          </a:prstGeom>
          <a:solidFill>
            <a:srgbClr val="C0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" y="4983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C04678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9651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M/W/F Masterminds Begin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5006974"/>
            <a:ext cx="411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Dan &amp; David: 9:30pm hackathons after the kids are asleep</a:t>
            </a:r>
          </a:p>
        </p:txBody>
      </p:sp>
      <p:sp>
        <p:nvSpPr>
          <p:cNvPr id="29" name="Oval 28"/>
          <p:cNvSpPr/>
          <p:nvPr/>
        </p:nvSpPr>
        <p:spPr>
          <a:xfrm>
            <a:off x="1700784" y="5733288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" y="57332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D9488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5715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Building the Future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5692017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Launching </a:t>
            </a:r>
            <a:r>
              <a:rPr dirty="0" err="1">
                <a:solidFill>
                  <a:schemeClr val="tx2"/>
                </a:solidFill>
              </a:rPr>
              <a:t>QualifyOS</a:t>
            </a:r>
            <a:r>
              <a:rPr dirty="0">
                <a:solidFill>
                  <a:schemeClr val="tx2"/>
                </a:solidFill>
              </a:rPr>
              <a:t>,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FlyByDate</a:t>
            </a:r>
            <a:r>
              <a:rPr lang="en-US" dirty="0">
                <a:solidFill>
                  <a:schemeClr val="tx2"/>
                </a:solidFill>
              </a:rPr>
              <a:t>,</a:t>
            </a:r>
            <a:r>
              <a:rPr dirty="0">
                <a:solidFill>
                  <a:schemeClr val="tx2"/>
                </a:solidFill>
              </a:rPr>
              <a:t> scaling Summit Voice AI</a:t>
            </a:r>
            <a:r>
              <a:rPr lang="en-US" dirty="0">
                <a:solidFill>
                  <a:schemeClr val="tx2"/>
                </a:solidFill>
              </a:rPr>
              <a:t>, and changing healthcare for the people it matters most to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766560" y="1371600"/>
            <a:ext cx="5029200" cy="4114800"/>
          </a:xfrm>
          <a:prstGeom prst="roundRect">
            <a:avLst>
              <a:gd name="adj" fmla="val 10000"/>
            </a:avLst>
          </a:prstGeom>
          <a:solidFill>
            <a:srgbClr val="142038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40880" y="164592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0D9488"/>
                </a:solidFill>
                <a:latin typeface="Calibri"/>
              </a:defRPr>
            </a:pPr>
            <a:r>
              <a:t>Dan &amp; David</a:t>
            </a:r>
          </a:p>
          <a:p>
            <a:pPr algn="l">
              <a:spcAft>
                <a:spcPts val="12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College roommates turned co-founders.</a:t>
            </a:r>
          </a:p>
          <a:p>
            <a:pPr algn="l">
              <a:spcAft>
                <a:spcPts val="1200"/>
              </a:spcAft>
              <a:defRPr sz="1600" b="0">
                <a:solidFill>
                  <a:srgbClr val="F1F5F9"/>
                </a:solidFill>
                <a:latin typeface="Calibri"/>
              </a:defRPr>
            </a:pPr>
            <a:r>
              <a:t>Two decades of friendship, one shared mission: build technology that actually helps people.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Not just for the $$$ — for the impact.</a:t>
            </a:r>
          </a:p>
        </p:txBody>
      </p:sp>
      <p:sp>
        <p:nvSpPr>
          <p:cNvPr id="35" name="Oval 34"/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27EBE4-3A4C-AA64-7EAC-94DDA6BCE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DED02E-262B-60FC-8F49-D657F00B956B}"/>
              </a:ext>
            </a:extLst>
          </p:cNvPr>
          <p:cNvSpPr txBox="1"/>
          <p:nvPr/>
        </p:nvSpPr>
        <p:spPr>
          <a:xfrm>
            <a:off x="457200" y="274320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Why Roofing First?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C709EDF-AFF6-638A-4769-E7D7313E99A4}"/>
              </a:ext>
            </a:extLst>
          </p:cNvPr>
          <p:cNvSpPr/>
          <p:nvPr/>
        </p:nvSpPr>
        <p:spPr>
          <a:xfrm>
            <a:off x="457200" y="914400"/>
            <a:ext cx="2011680" cy="36576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145EAD1-4555-0089-3084-8B43A870799E}"/>
              </a:ext>
            </a:extLst>
          </p:cNvPr>
          <p:cNvSpPr/>
          <p:nvPr/>
        </p:nvSpPr>
        <p:spPr>
          <a:xfrm>
            <a:off x="640229" y="2390961"/>
            <a:ext cx="457200" cy="45720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D7F28F-583B-93D6-D7F9-D66B2309DB4A}"/>
              </a:ext>
            </a:extLst>
          </p:cNvPr>
          <p:cNvSpPr txBox="1"/>
          <p:nvPr/>
        </p:nvSpPr>
        <p:spPr>
          <a:xfrm>
            <a:off x="1121511" y="240163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Biggest ROI in home services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DF57D7A-FBCC-D5B8-760A-08EB6128D3ED}"/>
              </a:ext>
            </a:extLst>
          </p:cNvPr>
          <p:cNvSpPr/>
          <p:nvPr/>
        </p:nvSpPr>
        <p:spPr>
          <a:xfrm>
            <a:off x="640229" y="3008425"/>
            <a:ext cx="457200" cy="45720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📞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E4EAFF-D65B-63BB-D991-BE3EF51EA0C7}"/>
              </a:ext>
            </a:extLst>
          </p:cNvPr>
          <p:cNvSpPr txBox="1"/>
          <p:nvPr/>
        </p:nvSpPr>
        <p:spPr>
          <a:xfrm>
            <a:off x="1143149" y="292604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Clear pain points (missed calls = lost revenue)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528AFB-F0EE-AEA4-5A3E-AB006D6643DA}"/>
              </a:ext>
            </a:extLst>
          </p:cNvPr>
          <p:cNvSpPr/>
          <p:nvPr/>
        </p:nvSpPr>
        <p:spPr>
          <a:xfrm>
            <a:off x="639850" y="3591805"/>
            <a:ext cx="457200" cy="45720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🤖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802988-9E18-BC73-28E1-EB0813A75D72}"/>
              </a:ext>
            </a:extLst>
          </p:cNvPr>
          <p:cNvSpPr txBox="1"/>
          <p:nvPr/>
        </p:nvSpPr>
        <p:spPr>
          <a:xfrm>
            <a:off x="1143149" y="3642487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24/7 Voice AI receptionist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79E0A5-6F4E-CDEC-0830-3A3645417E88}"/>
              </a:ext>
            </a:extLst>
          </p:cNvPr>
          <p:cNvSpPr/>
          <p:nvPr/>
        </p:nvSpPr>
        <p:spPr>
          <a:xfrm>
            <a:off x="642575" y="4204904"/>
            <a:ext cx="457200" cy="45720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⚙️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60B5E1-9251-0322-6B24-2CE6EC280C8E}"/>
              </a:ext>
            </a:extLst>
          </p:cNvPr>
          <p:cNvSpPr txBox="1"/>
          <p:nvPr/>
        </p:nvSpPr>
        <p:spPr>
          <a:xfrm>
            <a:off x="1121511" y="42506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Backend automation stack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75E78E-1EAA-8B36-D319-759CEC0CA606}"/>
              </a:ext>
            </a:extLst>
          </p:cNvPr>
          <p:cNvSpPr txBox="1"/>
          <p:nvPr/>
        </p:nvSpPr>
        <p:spPr>
          <a:xfrm>
            <a:off x="6872604" y="1199684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D9488"/>
                </a:solidFill>
                <a:latin typeface="Calibri"/>
              </a:defRPr>
            </a:pPr>
            <a:r>
              <a:rPr dirty="0"/>
              <a:t>The Results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A11D1D-3FCF-C543-FE61-CD0DDEE0A473}"/>
              </a:ext>
            </a:extLst>
          </p:cNvPr>
          <p:cNvSpPr txBox="1"/>
          <p:nvPr/>
        </p:nvSpPr>
        <p:spPr>
          <a:xfrm>
            <a:off x="6900519" y="1810975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/>
              <a:t>Missed Calls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152CFF1-B24D-7E09-C9DA-1D83C050C7D5}"/>
              </a:ext>
            </a:extLst>
          </p:cNvPr>
          <p:cNvSpPr/>
          <p:nvPr/>
        </p:nvSpPr>
        <p:spPr>
          <a:xfrm>
            <a:off x="7083399" y="2256669"/>
            <a:ext cx="2011680" cy="685800"/>
          </a:xfrm>
          <a:prstGeom prst="roundRect">
            <a:avLst>
              <a:gd name="adj" fmla="val 10000"/>
            </a:avLst>
          </a:prstGeom>
          <a:solidFill>
            <a:srgbClr val="1A0E0E"/>
          </a:solidFill>
          <a:ln w="1905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BE123C"/>
                </a:solidFill>
                <a:latin typeface="Calibri"/>
              </a:defRPr>
            </a:pPr>
            <a:r>
              <a:rPr dirty="0"/>
              <a:t>40%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150570-D348-EA45-27D4-1A69990356E7}"/>
              </a:ext>
            </a:extLst>
          </p:cNvPr>
          <p:cNvSpPr txBox="1"/>
          <p:nvPr/>
        </p:nvSpPr>
        <p:spPr>
          <a:xfrm>
            <a:off x="9140799" y="2320677"/>
            <a:ext cx="548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94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98C128E-FBB9-F834-E5C1-DB964DFA635A}"/>
              </a:ext>
            </a:extLst>
          </p:cNvPr>
          <p:cNvSpPr/>
          <p:nvPr/>
        </p:nvSpPr>
        <p:spPr>
          <a:xfrm>
            <a:off x="9735159" y="2256669"/>
            <a:ext cx="2011680" cy="685800"/>
          </a:xfrm>
          <a:prstGeom prst="roundRect">
            <a:avLst>
              <a:gd name="adj" fmla="val 10000"/>
            </a:avLst>
          </a:prstGeom>
          <a:solidFill>
            <a:srgbClr val="0E1A0E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059669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D0FB8C-E84B-1392-2908-15B834CF5404}"/>
              </a:ext>
            </a:extLst>
          </p:cNvPr>
          <p:cNvSpPr txBox="1"/>
          <p:nvPr/>
        </p:nvSpPr>
        <p:spPr>
          <a:xfrm>
            <a:off x="6900519" y="3116092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Response Time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F2EDE0C-C9B4-665C-CED2-91615A32975F}"/>
              </a:ext>
            </a:extLst>
          </p:cNvPr>
          <p:cNvSpPr/>
          <p:nvPr/>
        </p:nvSpPr>
        <p:spPr>
          <a:xfrm>
            <a:off x="7083399" y="3436132"/>
            <a:ext cx="2011680" cy="685800"/>
          </a:xfrm>
          <a:prstGeom prst="roundRect">
            <a:avLst>
              <a:gd name="adj" fmla="val 10000"/>
            </a:avLst>
          </a:prstGeom>
          <a:solidFill>
            <a:srgbClr val="1A0E0E"/>
          </a:solidFill>
          <a:ln w="1905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BE123C"/>
                </a:solidFill>
                <a:latin typeface="Calibri"/>
              </a:defRPr>
            </a:pPr>
            <a:r>
              <a:t>4 hours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79DA9E-78C7-E5B4-46B0-8178A57BE195}"/>
              </a:ext>
            </a:extLst>
          </p:cNvPr>
          <p:cNvSpPr txBox="1"/>
          <p:nvPr/>
        </p:nvSpPr>
        <p:spPr>
          <a:xfrm>
            <a:off x="9140799" y="3500140"/>
            <a:ext cx="548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94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B1FE754-9609-28A0-EC06-C33ADAC7873B}"/>
              </a:ext>
            </a:extLst>
          </p:cNvPr>
          <p:cNvSpPr/>
          <p:nvPr/>
        </p:nvSpPr>
        <p:spPr>
          <a:xfrm>
            <a:off x="9735159" y="3436132"/>
            <a:ext cx="2011680" cy="685800"/>
          </a:xfrm>
          <a:prstGeom prst="roundRect">
            <a:avLst>
              <a:gd name="adj" fmla="val 10000"/>
            </a:avLst>
          </a:prstGeom>
          <a:solidFill>
            <a:srgbClr val="0E1A0E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059669"/>
                </a:solidFill>
                <a:latin typeface="Calibri"/>
              </a:defRPr>
            </a:pPr>
            <a:r>
              <a:t>Instant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2752F7-E61B-28AA-009C-BCCD26B124A6}"/>
              </a:ext>
            </a:extLst>
          </p:cNvPr>
          <p:cNvSpPr txBox="1"/>
          <p:nvPr/>
        </p:nvSpPr>
        <p:spPr>
          <a:xfrm>
            <a:off x="6900519" y="4487692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/>
              <a:t>Conversion Rate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A028ECD-7331-E99F-B2BE-09377F694BB7}"/>
              </a:ext>
            </a:extLst>
          </p:cNvPr>
          <p:cNvSpPr/>
          <p:nvPr/>
        </p:nvSpPr>
        <p:spPr>
          <a:xfrm>
            <a:off x="7083399" y="4807732"/>
            <a:ext cx="2011680" cy="685800"/>
          </a:xfrm>
          <a:prstGeom prst="roundRect">
            <a:avLst>
              <a:gd name="adj" fmla="val 10000"/>
            </a:avLst>
          </a:prstGeom>
          <a:solidFill>
            <a:srgbClr val="1A0E0E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D97706"/>
                </a:solidFill>
                <a:latin typeface="Calibri"/>
              </a:defRPr>
            </a:pPr>
            <a:r>
              <a:rPr dirty="0"/>
              <a:t>12%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B5B5A2-177C-42C7-C982-AA96B65C734F}"/>
              </a:ext>
            </a:extLst>
          </p:cNvPr>
          <p:cNvSpPr txBox="1"/>
          <p:nvPr/>
        </p:nvSpPr>
        <p:spPr>
          <a:xfrm>
            <a:off x="9140799" y="4871740"/>
            <a:ext cx="548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94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89F7CDC-70E7-644F-8EE0-55480F488988}"/>
              </a:ext>
            </a:extLst>
          </p:cNvPr>
          <p:cNvSpPr/>
          <p:nvPr/>
        </p:nvSpPr>
        <p:spPr>
          <a:xfrm>
            <a:off x="9735159" y="4807732"/>
            <a:ext cx="2011680" cy="685800"/>
          </a:xfrm>
          <a:prstGeom prst="roundRect">
            <a:avLst>
              <a:gd name="adj" fmla="val 10000"/>
            </a:avLst>
          </a:prstGeom>
          <a:solidFill>
            <a:srgbClr val="0E1A0E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059669"/>
                </a:solidFill>
                <a:latin typeface="Calibri"/>
              </a:defRPr>
            </a:pPr>
            <a:r>
              <a:t>34%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958DCAA-2F02-A48A-F245-55129AB47906}"/>
              </a:ext>
            </a:extLst>
          </p:cNvPr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7D929DF-0D46-8B2B-DED3-DEBEB40A7D10}"/>
              </a:ext>
            </a:extLst>
          </p:cNvPr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5581C8F-E816-AFDD-5D11-91EDB167853A}"/>
              </a:ext>
            </a:extLst>
          </p:cNvPr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81E090D-E7E4-B233-7B85-C6D926374652}"/>
              </a:ext>
            </a:extLst>
          </p:cNvPr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A4B84D6-7E76-736C-6377-AFA58220ECA7}"/>
              </a:ext>
            </a:extLst>
          </p:cNvPr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F170068-A223-9647-9E0D-51EAC185FD6E}"/>
              </a:ext>
            </a:extLst>
          </p:cNvPr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EA6F290-1879-D724-88F1-6241FA97146F}"/>
              </a:ext>
            </a:extLst>
          </p:cNvPr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D0F1DDE-EB88-4E5B-15D6-DCA7BE1735C8}"/>
              </a:ext>
            </a:extLst>
          </p:cNvPr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034D3DC-024E-3DF2-8215-9E64887F5598}"/>
              </a:ext>
            </a:extLst>
          </p:cNvPr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E00038E-3B3A-9E5B-48B2-766707CF086F}"/>
              </a:ext>
            </a:extLst>
          </p:cNvPr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3E8142B-4BAF-FA1A-E691-DD65A5ADC985}"/>
              </a:ext>
            </a:extLst>
          </p:cNvPr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7A5F2C3-B0BF-A844-A729-2C0CA0FB091E}"/>
              </a:ext>
            </a:extLst>
          </p:cNvPr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8512190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D379760F-E97C-8655-8111-5A8AE095C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472" y="1467236"/>
            <a:ext cx="5711293" cy="467467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498951" y="381822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lang="en-US" dirty="0">
                <a:solidFill>
                  <a:schemeClr val="tx2"/>
                </a:solidFill>
              </a:rPr>
              <a:t>Because of the ROI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641198" y="1056503"/>
            <a:ext cx="2011680" cy="36576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What We Saw in Healthcare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194560"/>
            <a:ext cx="2377440" cy="237744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5120640" y="2651760"/>
            <a:ext cx="1463040" cy="146304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😤📞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097280"/>
            <a:ext cx="3474720" cy="8229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⏰  45+ min wait times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560320"/>
            <a:ext cx="3474720" cy="8229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💰  $5M+ lost per provider yearly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4754880"/>
            <a:ext cx="3474720" cy="8229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📱  Reddit/Facebook complaints,</a:t>
            </a:r>
            <a:br/>
            <a:r>
              <a:t>      no one listening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3474720" cy="8229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🔄  IVR mazes making</a:t>
            </a:r>
            <a:br/>
            <a:r>
              <a:t>      it worse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760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9488"/>
                </a:solidFill>
                <a:latin typeface="Calibri"/>
              </a:defRPr>
            </a:pPr>
            <a:r>
              <a:t>What if someone actually listened?</a:t>
            </a:r>
          </a:p>
        </p:txBody>
      </p:sp>
      <p:sp>
        <p:nvSpPr>
          <p:cNvPr id="10" name="Oval 9"/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71600" y="914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97706"/>
                </a:solidFill>
                <a:latin typeface="Calibri"/>
              </a:rPr>
              <a:t>$262 Billion in claims denied annually — and it's only getting worse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The Idea: Find Them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lang="en-US" sz="2400" dirty="0">
                <a:solidFill>
                  <a:schemeClr val="tx2"/>
                </a:solidFill>
              </a:rPr>
              <a:t>The Power of AI-</a:t>
            </a:r>
            <a:r>
              <a:rPr lang="en-US" sz="2400" dirty="0" err="1">
                <a:solidFill>
                  <a:schemeClr val="tx2"/>
                </a:solidFill>
              </a:rPr>
              <a:t>Infastructure</a:t>
            </a:r>
            <a:endParaRPr sz="2400" dirty="0">
              <a:solidFill>
                <a:schemeClr val="tx2"/>
              </a:solidFill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94560"/>
            <a:ext cx="2926080" cy="2011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2377440"/>
            <a:ext cx="2560320" cy="164592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🔍 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D9488"/>
                </a:solidFill>
                <a:latin typeface="Calibri"/>
              </a:defRPr>
            </a:pPr>
            <a:r>
              <a:t>6 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194560"/>
            <a:ext cx="2926080" cy="2011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246120" y="2377440"/>
            <a:ext cx="2560320" cy="164592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🧠 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4114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366F1"/>
                </a:solidFill>
                <a:latin typeface="Calibri"/>
              </a:defRPr>
            </a:pPr>
            <a:r>
              <a:t>7 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194560"/>
            <a:ext cx="2926080" cy="20116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0" y="2377440"/>
            <a:ext cx="2560320" cy="164592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⚡ 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114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97706"/>
                </a:solidFill>
                <a:latin typeface="Calibri"/>
              </a:defRPr>
            </a:pPr>
            <a:r>
              <a:t>8 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194560"/>
            <a:ext cx="2926080" cy="201168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641080" y="2377440"/>
            <a:ext cx="2560320" cy="164592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✅  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4114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59669"/>
                </a:solidFill>
                <a:latin typeface="Calibri"/>
              </a:defRPr>
            </a:pPr>
            <a:r>
              <a:t>All Day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7200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Reddit  —  r/insurance complaints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10912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Facebook  —  Medicare groups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449824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LinkedIn  —  Healthcare discussions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888736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Blogs  —  Comment sections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457200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Pain Points  —  Extraction &amp; tagging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5010912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Contacts  —  Enrichment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5449824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Urgency  —  Scoring (1-10)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5888736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Routing  —  Channel assignment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57200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📞 Phone  —  High priority → call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5010912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💬 SMS  —  Medium → text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5449824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📧 Email  —  Low → resources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57200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🗣️ Dialogue  —  Natural conversation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20" y="5010912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📊 Options  —  All plans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20" y="5449824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✅ Match  —  Best fit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5888736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🔗 Connect  —  Handoff</a:t>
            </a:r>
          </a:p>
        </p:txBody>
      </p:sp>
      <p:sp>
        <p:nvSpPr>
          <p:cNvPr id="34" name="Oval 33"/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How It Actually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34440"/>
            <a:ext cx="1097280" cy="41148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 AM</a:t>
            </a:r>
          </a:p>
        </p:txBody>
      </p:sp>
      <p:sp>
        <p:nvSpPr>
          <p:cNvPr id="4" name="Oval 3"/>
          <p:cNvSpPr/>
          <p:nvPr/>
        </p:nvSpPr>
        <p:spPr>
          <a:xfrm>
            <a:off x="1645920" y="1188720"/>
            <a:ext cx="502920" cy="50292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234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9488"/>
                </a:solidFill>
                <a:latin typeface="Calibri"/>
              </a:defRPr>
            </a:pPr>
            <a:r>
              <a:t>Discovery Phase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188720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Reddit posts about insurance problems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188720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Facebook group complaints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572768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LinkedIn healthcare discussions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1572768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Blog comment frustrations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74519" y="1691640"/>
            <a:ext cx="0" cy="868680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5760" y="2606040"/>
            <a:ext cx="1097280" cy="41148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 AM</a:t>
            </a:r>
          </a:p>
        </p:txBody>
      </p:sp>
      <p:sp>
        <p:nvSpPr>
          <p:cNvPr id="12" name="Oval 11"/>
          <p:cNvSpPr/>
          <p:nvPr/>
        </p:nvSpPr>
        <p:spPr>
          <a:xfrm>
            <a:off x="1645920" y="2560320"/>
            <a:ext cx="502920" cy="50292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366F1"/>
                </a:solidFill>
                <a:latin typeface="Calibri"/>
              </a:defRPr>
            </a:pPr>
            <a:r>
              <a:t>Intelligence Phase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2560320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Extract struggles &amp; pain 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2560320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Find contact information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2944368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Score urgency (green → yellow → red)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2944368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Route to appropriate response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74519" y="3063240"/>
            <a:ext cx="0" cy="868680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65760" y="3977640"/>
            <a:ext cx="1097280" cy="41148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 AM</a:t>
            </a:r>
          </a:p>
        </p:txBody>
      </p:sp>
      <p:sp>
        <p:nvSpPr>
          <p:cNvPr id="20" name="Oval 19"/>
          <p:cNvSpPr/>
          <p:nvPr/>
        </p:nvSpPr>
        <p:spPr>
          <a:xfrm>
            <a:off x="1645920" y="3931920"/>
            <a:ext cx="502920" cy="50292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977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97706"/>
                </a:solidFill>
                <a:latin typeface="Calibri"/>
              </a:defRPr>
            </a:pPr>
            <a:r>
              <a:t>Response Phase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3931920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High priority → Phone call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40" y="3931920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Medium → SMS outreach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4315968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Low → Email with resources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874519" y="4434840"/>
            <a:ext cx="0" cy="868680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65760" y="5349240"/>
            <a:ext cx="1097280" cy="41148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All Day</a:t>
            </a:r>
          </a:p>
        </p:txBody>
      </p:sp>
      <p:sp>
        <p:nvSpPr>
          <p:cNvPr id="27" name="Oval 26"/>
          <p:cNvSpPr/>
          <p:nvPr/>
        </p:nvSpPr>
        <p:spPr>
          <a:xfrm>
            <a:off x="1645920" y="5303520"/>
            <a:ext cx="502920" cy="50292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349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59669"/>
                </a:solidFill>
                <a:latin typeface="Calibri"/>
              </a:defRPr>
            </a:pPr>
            <a:r>
              <a:t>Resolution Phase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0" y="5303520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Voice AI conversation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78240" y="5303520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Access ALL insurance options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0" y="5687568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Find best fit &amp; connect to provider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5687568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t>  Automated follow-up</a:t>
            </a:r>
          </a:p>
        </p:txBody>
      </p:sp>
      <p:sp>
        <p:nvSpPr>
          <p:cNvPr id="33" name="Oval 32"/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09728"/>
            <a:ext cx="6400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n-US" dirty="0" err="1"/>
              <a:t>ServiceHive</a:t>
            </a:r>
            <a:r>
              <a:rPr dirty="0"/>
              <a:t>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164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0D9488"/>
                </a:solidFill>
                <a:latin typeface="Calibri"/>
              </a:defRPr>
            </a:pPr>
            <a:r>
              <a:t>Real-Time Member Discovery &amp; Engagement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11612880" cy="58064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2DFDCC2-D20A-37E8-0955-C63038F0A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07678"/>
            <a:ext cx="2190317" cy="29204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8759181-4382-A235-C735-300A89A966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410" t="32432" r="17788" b="37207"/>
          <a:stretch>
            <a:fillRect/>
          </a:stretch>
        </p:blipFill>
        <p:spPr>
          <a:xfrm>
            <a:off x="432486" y="584528"/>
            <a:ext cx="902043" cy="29542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QualifyOS  +  Summit Voice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D9488"/>
                </a:solidFill>
                <a:latin typeface="Calibri"/>
              </a:defRPr>
            </a:pPr>
            <a:r>
              <a:t>The voice people actually want to talk to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24/7 Multilingual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55868"/>
            <a:ext cx="3657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lang="en-US" dirty="0">
                <a:solidFill>
                  <a:schemeClr val="tx2"/>
                </a:solidFill>
              </a:rPr>
              <a:t>27</a:t>
            </a:r>
            <a:r>
              <a:rPr dirty="0">
                <a:solidFill>
                  <a:schemeClr val="tx2"/>
                </a:solidFill>
              </a:rPr>
              <a:t>+ languages, always on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468880"/>
            <a:ext cx="457200" cy="45720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23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Empathetic, Not Robotic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60567"/>
            <a:ext cx="3657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Trained on real conversations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246120"/>
            <a:ext cx="457200" cy="45720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CMS-Trained for Healthcare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42750"/>
            <a:ext cx="3657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Compliance-ready from day one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77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Real-time Translation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91940"/>
            <a:ext cx="3657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Break language barriers instantly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457200" cy="457200"/>
          </a:xfrm>
          <a:prstGeom prst="ellipse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754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Integrates with Any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566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API-first, plug and play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486400" cy="1371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1600"/>
            <a:ext cx="3657600" cy="27432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371600" y="4846320"/>
            <a:ext cx="7315200" cy="59436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9050">
            <a:solidFill>
              <a:srgbClr val="387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Member: "I'm confused about my prescription coverage..."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5577840"/>
            <a:ext cx="7315200" cy="594360"/>
          </a:xfrm>
          <a:prstGeom prst="roundRect">
            <a:avLst>
              <a:gd name="adj" fmla="val 10000"/>
            </a:avLst>
          </a:prstGeom>
          <a:solidFill>
            <a:srgbClr val="102A38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1F5F9"/>
                </a:solidFill>
                <a:latin typeface="Calibri"/>
              </a:defRPr>
            </a:pPr>
            <a:r>
              <a:t>AI: "I understand. Let me look at your plan and explain your options clearly..."</a:t>
            </a:r>
          </a:p>
        </p:txBody>
      </p:sp>
      <p:sp>
        <p:nvSpPr>
          <p:cNvPr id="23" name="Oval 22"/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Same Tech Stack, Different Problems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88720"/>
            <a:ext cx="3291840" cy="21945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" y="1371600"/>
            <a:ext cx="548640" cy="54864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Roofing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97706"/>
                </a:solidFill>
                <a:latin typeface="Calibri"/>
              </a:defRPr>
            </a:pPr>
            <a:r>
              <a:t>▸ 0% missed calls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97706"/>
                </a:solidFill>
                <a:latin typeface="Calibri"/>
              </a:defRPr>
            </a:pPr>
            <a:r>
              <a:t>▸ 34% conversion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188720"/>
            <a:ext cx="3291840" cy="21945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17720" y="1371600"/>
            <a:ext cx="548640" cy="54864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Home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366F1"/>
                </a:solidFill>
                <a:latin typeface="Calibri"/>
              </a:defRPr>
            </a:pPr>
            <a:r>
              <a:t>▸ 24/7 booking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366F1"/>
                </a:solidFill>
                <a:latin typeface="Calibri"/>
              </a:defRPr>
            </a:pPr>
            <a:r>
              <a:t>▸ 3x lead capture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188720"/>
            <a:ext cx="3291840" cy="21945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366760" y="1371600"/>
            <a:ext cx="548640" cy="54864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Insurance Brokers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D9488"/>
                </a:solidFill>
                <a:latin typeface="Calibri"/>
              </a:defRPr>
            </a:pPr>
            <a:r>
              <a:t>▸ Instant quotes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D9488"/>
                </a:solidFill>
                <a:latin typeface="Calibri"/>
              </a:defRPr>
            </a:pPr>
            <a:r>
              <a:t>▸ Auto-qualification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49040"/>
            <a:ext cx="3291840" cy="21945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8680" y="3931920"/>
            <a:ext cx="548640" cy="54864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931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Call Centers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59669"/>
                </a:solidFill>
                <a:latin typeface="Calibri"/>
              </a:defRPr>
            </a:pPr>
            <a:r>
              <a:t>▸ 87%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59669"/>
                </a:solidFill>
                <a:latin typeface="Calibri"/>
              </a:defRPr>
            </a:pPr>
            <a:r>
              <a:t>▸ 60% cost reduction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749040"/>
            <a:ext cx="3291840" cy="21945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C0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617720" y="3931920"/>
            <a:ext cx="548640" cy="54864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931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Customer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4678"/>
                </a:solidFill>
                <a:latin typeface="Calibri"/>
              </a:defRPr>
            </a:pPr>
            <a:r>
              <a:t>▸ 2 min resolution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4678"/>
                </a:solidFill>
                <a:latin typeface="Calibri"/>
              </a:defRPr>
            </a:pPr>
            <a:r>
              <a:t>▸ 4.8★ rating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3749040"/>
            <a:ext cx="3291840" cy="21945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366760" y="3931920"/>
            <a:ext cx="548640" cy="54864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3931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Complex Products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97706"/>
                </a:solidFill>
                <a:latin typeface="Calibri"/>
              </a:defRPr>
            </a:pPr>
            <a:r>
              <a:t>▸ Guided selling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97706"/>
                </a:solidFill>
                <a:latin typeface="Calibri"/>
              </a:defRPr>
            </a:pPr>
            <a:r>
              <a:t>▸ 2x close rate</a:t>
            </a:r>
          </a:p>
        </p:txBody>
      </p:sp>
      <p:sp>
        <p:nvSpPr>
          <p:cNvPr id="33" name="Oval 32"/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097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Automation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6459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0D9488"/>
                </a:solidFill>
                <a:latin typeface="Calibri"/>
              </a:defRPr>
            </a:pPr>
            <a:r>
              <a:t>Built with n8n + Claude Code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431596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828800" y="5212080"/>
            <a:ext cx="8503920" cy="64008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With tools like Claude Code, we prototype workflows in hours, not weeks.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9893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D97706"/>
                </a:solidFill>
                <a:latin typeface="Calibri"/>
              </a:defRPr>
            </a:pPr>
            <a:r>
              <a:t>n8n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59893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0D9488"/>
                </a:solidFill>
                <a:latin typeface="Calibri"/>
              </a:defRPr>
            </a:pPr>
            <a:r>
              <a:t>Claude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59893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059669"/>
                </a:solidFill>
                <a:latin typeface="Calibri"/>
              </a:defRPr>
            </a:pPr>
            <a:r>
              <a:t>Voice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59893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4A853"/>
                </a:solidFill>
                <a:latin typeface="Calibri"/>
              </a:defRPr>
            </a:pPr>
            <a:r>
              <a:t>Google Sheets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59893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6366F1"/>
                </a:solidFill>
                <a:latin typeface="Calibri"/>
              </a:defRPr>
            </a:pPr>
            <a:r>
              <a:t>Replit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59893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E07A5F"/>
                </a:solidFill>
                <a:latin typeface="Calibri"/>
              </a:defRPr>
            </a:pPr>
            <a:r>
              <a:t>Reddit API</a:t>
            </a:r>
          </a:p>
        </p:txBody>
      </p:sp>
      <p:sp>
        <p:nvSpPr>
          <p:cNvPr id="12" name="Oval 11"/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ED62B7-BBC7-019F-41AA-8AEEF07A0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59A8AE-9820-15F2-6995-EA679B87E766}"/>
              </a:ext>
            </a:extLst>
          </p:cNvPr>
          <p:cNvSpPr txBox="1"/>
          <p:nvPr/>
        </p:nvSpPr>
        <p:spPr>
          <a:xfrm>
            <a:off x="274320" y="1097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Automation Engine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8A2E9-7268-7A76-E277-A3550B88C342}"/>
              </a:ext>
            </a:extLst>
          </p:cNvPr>
          <p:cNvSpPr txBox="1"/>
          <p:nvPr/>
        </p:nvSpPr>
        <p:spPr>
          <a:xfrm>
            <a:off x="5943600" y="16459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0D9488"/>
                </a:solidFill>
                <a:latin typeface="Calibri"/>
              </a:defRPr>
            </a:pPr>
            <a:r>
              <a:t>Built with n8n + Claude Code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00879A7-DBF1-2F44-A28B-746C94C05C11}"/>
              </a:ext>
            </a:extLst>
          </p:cNvPr>
          <p:cNvSpPr/>
          <p:nvPr/>
        </p:nvSpPr>
        <p:spPr>
          <a:xfrm>
            <a:off x="274320" y="4835144"/>
            <a:ext cx="11779696" cy="1017016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Unlimited people with a true need – and that is the problem. They are asking for help in all the wrong places because they can’t trust the healthcare system to give honest advice. </a:t>
            </a:r>
            <a:br>
              <a:rPr lang="en-US" dirty="0"/>
            </a:br>
            <a:r>
              <a:rPr lang="en-US" dirty="0"/>
              <a:t>At times they can’t even reach someone that who can actually help…</a:t>
            </a: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B12C9D1-CEAC-DB58-5FBE-EC1FA0B1C5B8}"/>
              </a:ext>
            </a:extLst>
          </p:cNvPr>
          <p:cNvSpPr/>
          <p:nvPr/>
        </p:nvSpPr>
        <p:spPr>
          <a:xfrm>
            <a:off x="1828800" y="59893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D97706"/>
                </a:solidFill>
                <a:latin typeface="Calibri"/>
              </a:defRPr>
            </a:pPr>
            <a:r>
              <a:rPr lang="en-US" dirty="0"/>
              <a:t>Daily Search</a:t>
            </a:r>
            <a:endParaRPr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A3CDE0F-0A1F-4C4B-46B7-C5295ACFBA40}"/>
              </a:ext>
            </a:extLst>
          </p:cNvPr>
          <p:cNvSpPr/>
          <p:nvPr/>
        </p:nvSpPr>
        <p:spPr>
          <a:xfrm>
            <a:off x="3291840" y="59893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0D9488"/>
                </a:solidFill>
                <a:latin typeface="Calibri"/>
              </a:defRPr>
            </a:pPr>
            <a:r>
              <a:rPr lang="en-US" dirty="0"/>
              <a:t>Across All Networks</a:t>
            </a:r>
            <a:endParaRPr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DCBF47-66FB-2012-ED9D-425A5E90AAC1}"/>
              </a:ext>
            </a:extLst>
          </p:cNvPr>
          <p:cNvSpPr/>
          <p:nvPr/>
        </p:nvSpPr>
        <p:spPr>
          <a:xfrm>
            <a:off x="4754880" y="59893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059669"/>
                </a:solidFill>
                <a:latin typeface="Calibri"/>
              </a:defRPr>
            </a:pPr>
            <a:r>
              <a:rPr lang="en-US" dirty="0"/>
              <a:t>Store/Update Data</a:t>
            </a:r>
            <a:endParaRPr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788B156-0C1F-32EF-86AD-1983E51D731D}"/>
              </a:ext>
            </a:extLst>
          </p:cNvPr>
          <p:cNvSpPr/>
          <p:nvPr/>
        </p:nvSpPr>
        <p:spPr>
          <a:xfrm>
            <a:off x="6217920" y="59893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4A853"/>
                </a:solidFill>
                <a:latin typeface="Calibri"/>
              </a:defRPr>
            </a:pPr>
            <a:r>
              <a:rPr lang="en-US" dirty="0"/>
              <a:t>Reach Out</a:t>
            </a:r>
            <a:endParaRPr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5298BEF-9B80-C199-5769-6AFB49C9E2E2}"/>
              </a:ext>
            </a:extLst>
          </p:cNvPr>
          <p:cNvSpPr/>
          <p:nvPr/>
        </p:nvSpPr>
        <p:spPr>
          <a:xfrm>
            <a:off x="7680960" y="59893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6366F1"/>
                </a:solidFill>
                <a:latin typeface="Calibri"/>
              </a:defRPr>
            </a:pPr>
            <a:r>
              <a:rPr lang="en-US" dirty="0"/>
              <a:t>Help</a:t>
            </a:r>
            <a:endParaRPr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F860715-0687-D37C-1E89-E9C01AD7693B}"/>
              </a:ext>
            </a:extLst>
          </p:cNvPr>
          <p:cNvSpPr/>
          <p:nvPr/>
        </p:nvSpPr>
        <p:spPr>
          <a:xfrm>
            <a:off x="9144000" y="59893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E07A5F"/>
                </a:solidFill>
                <a:latin typeface="Calibri"/>
              </a:defRPr>
            </a:pPr>
            <a:r>
              <a:rPr lang="en-US" dirty="0"/>
              <a:t>Support</a:t>
            </a:r>
            <a:endParaRPr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9F9A4D-9609-9BE3-59F5-FAEC84ECC35C}"/>
              </a:ext>
            </a:extLst>
          </p:cNvPr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13C146B-62C3-2A05-0672-D55A7B8B95AD}"/>
              </a:ext>
            </a:extLst>
          </p:cNvPr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FA88104-0AA6-24CB-7F2D-88046F319707}"/>
              </a:ext>
            </a:extLst>
          </p:cNvPr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C542AD7-D5BC-E394-8AC6-3176C9F5ED14}"/>
              </a:ext>
            </a:extLst>
          </p:cNvPr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B62368-FE8C-1539-4E8C-DC9291982501}"/>
              </a:ext>
            </a:extLst>
          </p:cNvPr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9F8F63E-3999-4F25-3645-9D11387745F4}"/>
              </a:ext>
            </a:extLst>
          </p:cNvPr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1CEB627-3E78-628E-0B8B-737A6A0AE0AB}"/>
              </a:ext>
            </a:extLst>
          </p:cNvPr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19D5625-D8EB-374F-F250-7BAA243C1C32}"/>
              </a:ext>
            </a:extLst>
          </p:cNvPr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5875458-D4BE-7F2D-11CF-A53CF53E765B}"/>
              </a:ext>
            </a:extLst>
          </p:cNvPr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FA4531C-342E-8D59-BF71-C09E354FE2F9}"/>
              </a:ext>
            </a:extLst>
          </p:cNvPr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092AC61-1044-5476-1E92-B67D1774B196}"/>
              </a:ext>
            </a:extLst>
          </p:cNvPr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264C442-4030-9A96-2579-FF271ED0E062}"/>
              </a:ext>
            </a:extLst>
          </p:cNvPr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42568AB-2BF3-B078-4DC9-6C7510626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04" y="667512"/>
            <a:ext cx="8719751" cy="406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99214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What's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44155" y="1234440"/>
            <a:ext cx="2650524" cy="438912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854579" y="3233057"/>
            <a:ext cx="515380" cy="64008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4155" y="2240280"/>
            <a:ext cx="2650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9488"/>
                </a:solidFill>
                <a:latin typeface="Calibri"/>
              </a:defRPr>
            </a:pPr>
            <a:r>
              <a:t>QualifyOS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18475" y="2743200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rPr dirty="0"/>
              <a:t>▸  Launching publicly Q2 202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3518475" y="3246120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▸  40+ offer templates trained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8475" y="3749040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▸  1,800+ document knowledge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8475" y="4251960"/>
            <a:ext cx="22087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▸  Live AI sales coach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8475" y="4638020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rPr dirty="0"/>
              <a:t>▸  Built from 4 months of obsession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379" y="1234440"/>
            <a:ext cx="2650524" cy="438912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4379" y="2240280"/>
            <a:ext cx="2650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97706"/>
                </a:solidFill>
                <a:latin typeface="Calibri"/>
              </a:defRPr>
            </a:pPr>
            <a:r>
              <a:t>Summit Voice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699" y="2743200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▸  Expanding beyond roofing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699" y="3246120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▸  Healthcare, home services, call centers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699" y="3749040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▸  24/7 multilingual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699" y="4251960"/>
            <a:ext cx="22087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▸  Integration-ready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9013" y="1234440"/>
            <a:ext cx="2650524" cy="438912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23333" y="2743200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▸  Proactive member 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3333" y="3246120"/>
            <a:ext cx="22087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▸  Multi-source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3333" y="3749040"/>
            <a:ext cx="22087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▸  Voice AI orchestration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3333" y="4251960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▸  Changing how insurance listens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9488"/>
                </a:solidFill>
                <a:latin typeface="Calibri"/>
              </a:defRPr>
            </a:pPr>
            <a:r>
              <a:t>This is what we do at 9:30pm after the kids are asleep. Imagine what we could do with more time.</a:t>
            </a:r>
          </a:p>
        </p:txBody>
      </p:sp>
      <p:sp>
        <p:nvSpPr>
          <p:cNvPr id="26" name="Oval 25"/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2">
            <a:extLst>
              <a:ext uri="{FF2B5EF4-FFF2-40B4-BE49-F238E27FC236}">
                <a16:creationId xmlns:a16="http://schemas.microsoft.com/office/drawing/2014/main" id="{8B0D0F23-54D2-E1C0-F089-FA57B9F099E9}"/>
              </a:ext>
            </a:extLst>
          </p:cNvPr>
          <p:cNvSpPr/>
          <p:nvPr/>
        </p:nvSpPr>
        <p:spPr>
          <a:xfrm>
            <a:off x="6233931" y="1234440"/>
            <a:ext cx="2650524" cy="4389120"/>
          </a:xfrm>
          <a:prstGeom prst="roundRect">
            <a:avLst>
              <a:gd name="adj" fmla="val 10000"/>
            </a:avLst>
          </a:prstGeom>
          <a:solidFill>
            <a:srgbClr val="162840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2E9388-881C-BFAC-B1F8-3EFF78D492F0}"/>
              </a:ext>
            </a:extLst>
          </p:cNvPr>
          <p:cNvSpPr txBox="1"/>
          <p:nvPr/>
        </p:nvSpPr>
        <p:spPr>
          <a:xfrm>
            <a:off x="6508251" y="2743200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rPr dirty="0"/>
              <a:t>▸  Launching publicly Q</a:t>
            </a:r>
            <a:r>
              <a:rPr lang="en-US" dirty="0"/>
              <a:t>3</a:t>
            </a:r>
            <a:r>
              <a:rPr dirty="0"/>
              <a:t> 202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E01B608-1F78-3298-BDDE-BA8B12DB3ED1}"/>
              </a:ext>
            </a:extLst>
          </p:cNvPr>
          <p:cNvSpPr txBox="1"/>
          <p:nvPr/>
        </p:nvSpPr>
        <p:spPr>
          <a:xfrm>
            <a:off x="6508251" y="3246120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rPr lang="en-US" dirty="0"/>
              <a:t>▸  Airport-verified dating &amp; Networking</a:t>
            </a:r>
            <a:endParaRPr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9A9675-3E54-BD70-8E5C-00FA90706AD2}"/>
              </a:ext>
            </a:extLst>
          </p:cNvPr>
          <p:cNvSpPr txBox="1"/>
          <p:nvPr/>
        </p:nvSpPr>
        <p:spPr>
          <a:xfrm>
            <a:off x="6508251" y="3749040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rPr dirty="0"/>
              <a:t>▸  </a:t>
            </a:r>
            <a:r>
              <a:rPr lang="en-US" dirty="0"/>
              <a:t>AI-Powered </a:t>
            </a:r>
            <a:r>
              <a:rPr lang="en-US" dirty="0" err="1"/>
              <a:t>FlyScore</a:t>
            </a:r>
            <a:r>
              <a:rPr lang="en-US" dirty="0"/>
              <a:t> matching</a:t>
            </a:r>
            <a:endParaRPr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36249E-15E7-EBD0-C4CE-55F87F91FADF}"/>
              </a:ext>
            </a:extLst>
          </p:cNvPr>
          <p:cNvSpPr txBox="1"/>
          <p:nvPr/>
        </p:nvSpPr>
        <p:spPr>
          <a:xfrm>
            <a:off x="6508251" y="4251960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rPr dirty="0"/>
              <a:t>▸  </a:t>
            </a:r>
            <a:r>
              <a:rPr lang="en-US" dirty="0"/>
              <a:t>Time-synced connections during layovers</a:t>
            </a:r>
            <a:endParaRPr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4E0E84-4C8E-BBF1-1B6D-23B3D4911E4E}"/>
              </a:ext>
            </a:extLst>
          </p:cNvPr>
          <p:cNvSpPr txBox="1"/>
          <p:nvPr/>
        </p:nvSpPr>
        <p:spPr>
          <a:xfrm>
            <a:off x="6508251" y="4754880"/>
            <a:ext cx="22087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rPr dirty="0"/>
              <a:t>▸  </a:t>
            </a:r>
            <a:r>
              <a:rPr lang="en-US" dirty="0"/>
              <a:t>Zero direct competitors</a:t>
            </a:r>
            <a:endParaRPr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B79E54-FA39-4B8A-05F7-0EC70244E8BA}"/>
              </a:ext>
            </a:extLst>
          </p:cNvPr>
          <p:cNvSpPr txBox="1"/>
          <p:nvPr/>
        </p:nvSpPr>
        <p:spPr>
          <a:xfrm>
            <a:off x="6508251" y="5024234"/>
            <a:ext cx="2208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rPr dirty="0"/>
              <a:t>▸  Built from </a:t>
            </a:r>
            <a:r>
              <a:rPr lang="en-US" dirty="0"/>
              <a:t>10 years of vision</a:t>
            </a:r>
            <a:endParaRPr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DBEE1C76-180F-C80C-D351-149253562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363" y="1491019"/>
            <a:ext cx="558476" cy="53328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5AC4E723-7E9A-BB22-ED4E-284E51E50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903" y="1873739"/>
            <a:ext cx="1927868" cy="86005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227D23BC-6989-8E27-B071-8367E7F8B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121" y="1508733"/>
            <a:ext cx="581925" cy="52241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B3E032A-D328-838B-CB7C-5D62AAEAF5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045" t="32854" r="18033" b="38454"/>
          <a:stretch>
            <a:fillRect/>
          </a:stretch>
        </p:blipFill>
        <p:spPr>
          <a:xfrm>
            <a:off x="9423333" y="2031152"/>
            <a:ext cx="2069625" cy="63929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0116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Thanks for connecting.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D9488"/>
                </a:solidFill>
                <a:latin typeface="Calibri"/>
              </a:defRPr>
            </a:pPr>
            <a:r>
              <a:t>Let's keep building.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3840480"/>
            <a:ext cx="2103120" cy="36576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Dan Gill  •  dan@summitmktggroup.com  •  (757) 329-5913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418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/>
              <a:t>David Newsom  •  davidnewsom</a:t>
            </a:r>
            <a:r>
              <a:rPr lang="en-US" dirty="0"/>
              <a:t>5</a:t>
            </a:r>
            <a:r>
              <a:rPr dirty="0"/>
              <a:t>@</a:t>
            </a:r>
            <a:r>
              <a:rPr lang="en-US" dirty="0"/>
              <a:t>gmail</a:t>
            </a:r>
            <a:r>
              <a:rPr dirty="0"/>
              <a:t>.com</a:t>
            </a:r>
          </a:p>
        </p:txBody>
      </p:sp>
      <p:sp>
        <p:nvSpPr>
          <p:cNvPr id="7" name="Oval 6"/>
          <p:cNvSpPr/>
          <p:nvPr/>
        </p:nvSpPr>
        <p:spPr>
          <a:xfrm>
            <a:off x="488883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09000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29117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49234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69351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9467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095847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97015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98183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699351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900519" y="656539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101687" y="656539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The $262 Billion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4A3B8"/>
                </a:solidFill>
                <a:latin typeface="Calibri"/>
              </a:rPr>
              <a:t>The Healthcare Administration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1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D97706"/>
                </a:solidFill>
                <a:latin typeface="Calibri"/>
              </a:rPr>
              <a:t>$262B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83464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in claims denied annually from $3 trillion submitted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74720"/>
            <a:ext cx="5029200" cy="1280160"/>
          </a:xfrm>
          <a:prstGeom prst="roundRect">
            <a:avLst>
              <a:gd name="adj" fmla="val 4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4846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  <a:latin typeface="Calibri"/>
              </a:rPr>
              <a:t>68M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Medicare Beneficiaries (2026)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474720"/>
            <a:ext cx="5029200" cy="1280160"/>
          </a:xfrm>
          <a:prstGeom prst="roundRect">
            <a:avLst>
              <a:gd name="adj" fmla="val 4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79" y="3566160"/>
            <a:ext cx="4846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  <a:latin typeface="Calibri"/>
              </a:rPr>
              <a:t>85M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Medicaid Enrollees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29200"/>
            <a:ext cx="5029200" cy="1280160"/>
          </a:xfrm>
          <a:prstGeom prst="roundRect">
            <a:avLst>
              <a:gd name="adj" fmla="val 4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4846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  <a:latin typeface="Calibri"/>
              </a:rPr>
              <a:t>$1.2T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Total Medicare Spending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5029200"/>
            <a:ext cx="5029200" cy="1280160"/>
          </a:xfrm>
          <a:prstGeom prst="roundRect">
            <a:avLst>
              <a:gd name="adj" fmla="val 4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5120640"/>
            <a:ext cx="4846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  <a:latin typeface="Calibri"/>
              </a:rPr>
              <a:t>10,000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Americans Turn 65 Every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2179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51% denial increase since 2021  •  CMS now mandating AI prior authorization pilots  •  10,000 aging into Medicare daily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Why We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4A3B8"/>
                </a:solidFill>
                <a:latin typeface="Calibri"/>
              </a:rPr>
              <a:t>Built Different From Day 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03520" cy="2011680"/>
          </a:xfrm>
          <a:prstGeom prst="roundRect">
            <a:avLst>
              <a:gd name="adj" fmla="val 4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49377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10B981"/>
                </a:solidFill>
                <a:latin typeface="Calibri"/>
              </a:rPr>
              <a:t>95%+</a:t>
            </a:r>
          </a:p>
          <a:p>
            <a:pPr algn="l">
              <a:spcBef>
                <a:spcPts val="4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Automation Rate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94A3B8"/>
                </a:solidFill>
                <a:latin typeface="Calibri"/>
              </a:rPr>
              <a:t>Competitors achieve 60-70%. Our agentic AI handles routine claims with zero human touch.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2011680"/>
          </a:xfrm>
          <a:prstGeom prst="roundRect">
            <a:avLst>
              <a:gd name="adj" fmla="val 4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9377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10B981"/>
                </a:solidFill>
                <a:latin typeface="Calibri"/>
              </a:rPr>
              <a:t>48 Hours</a:t>
            </a:r>
          </a:p>
          <a:p>
            <a:pPr algn="l">
              <a:spcBef>
                <a:spcPts val="4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Implementation Time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94A3B8"/>
                </a:solidFill>
                <a:latin typeface="Calibri"/>
              </a:rPr>
              <a:t>vs. 6-12 months with legacy systems. 500 charts to train, not 10,000+.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49039"/>
            <a:ext cx="5303520" cy="2011680"/>
          </a:xfrm>
          <a:prstGeom prst="roundRect">
            <a:avLst>
              <a:gd name="adj" fmla="val 4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49377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10B981"/>
                </a:solidFill>
                <a:latin typeface="Calibri"/>
              </a:rPr>
              <a:t>65%</a:t>
            </a:r>
          </a:p>
          <a:p>
            <a:pPr algn="l">
              <a:spcBef>
                <a:spcPts val="4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Denial Reduction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94A3B8"/>
                </a:solidFill>
                <a:latin typeface="Calibri"/>
              </a:rPr>
              <a:t>Plus 40% admin cost savings and 5+ day reduction in A/R — within 90 days.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49039"/>
            <a:ext cx="5303520" cy="2011680"/>
          </a:xfrm>
          <a:prstGeom prst="roundRect">
            <a:avLst>
              <a:gd name="adj" fmla="val 4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886200"/>
            <a:ext cx="49377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10B981"/>
                </a:solidFill>
                <a:latin typeface="Calibri"/>
              </a:rPr>
              <a:t>1st</a:t>
            </a:r>
          </a:p>
          <a:p>
            <a:pPr algn="l">
              <a:spcBef>
                <a:spcPts val="4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Unified Platform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94A3B8"/>
                </a:solidFill>
                <a:latin typeface="Calibri"/>
              </a:rPr>
              <a:t>First to combine insurance operations + provider tools + member portal in a single ecosystem.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0350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Real-time CMS policy updates  •  Instant eligibility verification  •  Predictive denial prevention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The Revenue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4A3B8"/>
                </a:solidFill>
                <a:latin typeface="Calibri"/>
              </a:rPr>
              <a:t>Triple-Layer Revenue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3474720" cy="3840480"/>
          </a:xfrm>
          <a:prstGeom prst="roundRect">
            <a:avLst>
              <a:gd name="adj" fmla="val 4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32004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💰</a:t>
            </a:r>
          </a:p>
          <a:p>
            <a:pPr algn="ctr">
              <a:spcBef>
                <a:spcPts val="600"/>
              </a:spcBef>
            </a:pPr>
            <a:r>
              <a:rPr sz="2200" b="1">
                <a:solidFill>
                  <a:srgbClr val="FFFFFF"/>
                </a:solidFill>
                <a:latin typeface="Calibri"/>
              </a:rPr>
              <a:t>Insurance Premiums</a:t>
            </a:r>
          </a:p>
          <a:p>
            <a:pPr algn="ctr">
              <a:spcBef>
                <a:spcPts val="400"/>
              </a:spcBef>
            </a:pPr>
            <a:r>
              <a:rPr sz="1800" b="1">
                <a:solidFill>
                  <a:srgbClr val="D97706"/>
                </a:solidFill>
                <a:latin typeface="Calibri"/>
              </a:rPr>
              <a:t>$200-300 PMPM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▸  CMS capitation payments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▸  State Medicaid contracts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▸  Member premium collections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▸  Risk adjustment optimization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474720" cy="3840480"/>
          </a:xfrm>
          <a:prstGeom prst="roundRect">
            <a:avLst>
              <a:gd name="adj" fmla="val 4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645920"/>
            <a:ext cx="32004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⚡</a:t>
            </a:r>
          </a:p>
          <a:p>
            <a:pPr algn="ctr">
              <a:spcBef>
                <a:spcPts val="600"/>
              </a:spcBef>
            </a:pPr>
            <a:r>
              <a:rPr sz="2200" b="1">
                <a:solidFill>
                  <a:srgbClr val="FFFFFF"/>
                </a:solidFill>
                <a:latin typeface="Calibri"/>
              </a:rPr>
              <a:t>SaaS Platform</a:t>
            </a:r>
          </a:p>
          <a:p>
            <a:pPr algn="ctr">
              <a:spcBef>
                <a:spcPts val="400"/>
              </a:spcBef>
            </a:pPr>
            <a:r>
              <a:rPr sz="1800" b="1">
                <a:solidFill>
                  <a:srgbClr val="D97706"/>
                </a:solidFill>
                <a:latin typeface="Calibri"/>
              </a:rPr>
              <a:t>$50-150 /provider/mo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▸  Claims automation platform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▸  Prior authorization AI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▸  Analytics &amp; reporting suite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▸  API access &amp; integrations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463040"/>
            <a:ext cx="3474720" cy="3840480"/>
          </a:xfrm>
          <a:prstGeom prst="roundRect">
            <a:avLst>
              <a:gd name="adj" fmla="val 4000"/>
            </a:avLst>
          </a:prstGeom>
          <a:solidFill>
            <a:srgbClr val="16284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645920"/>
            <a:ext cx="32004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📈</a:t>
            </a:r>
          </a:p>
          <a:p>
            <a:pPr algn="ctr">
              <a:spcBef>
                <a:spcPts val="600"/>
              </a:spcBef>
            </a:pPr>
            <a:r>
              <a:rPr sz="2200" b="1">
                <a:solidFill>
                  <a:srgbClr val="FFFFFF"/>
                </a:solidFill>
                <a:latin typeface="Calibri"/>
              </a:rPr>
              <a:t>Performance Revenue</a:t>
            </a:r>
          </a:p>
          <a:p>
            <a:pPr algn="ctr">
              <a:spcBef>
                <a:spcPts val="400"/>
              </a:spcBef>
            </a:pPr>
            <a:r>
              <a:rPr sz="1800" b="1">
                <a:solidFill>
                  <a:srgbClr val="D97706"/>
                </a:solidFill>
                <a:latin typeface="Calibri"/>
              </a:rPr>
              <a:t>15-25% of Savings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▸  Denial reduction guarantees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▸  Shared savings contracts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▸  Value-based care bonuses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▸  Quality metrics improvements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7607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Calibri"/>
              </a:rPr>
              <a:t>70% Gross Margin  •  8-Month CAC Payback  •  Scalable Across All Verticals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930</Words>
  <Application>Microsoft Office PowerPoint</Application>
  <PresentationFormat>Widescreen</PresentationFormat>
  <Paragraphs>216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 Gill</cp:lastModifiedBy>
  <cp:revision>4</cp:revision>
  <dcterms:created xsi:type="dcterms:W3CDTF">2013-01-27T09:14:16Z</dcterms:created>
  <dcterms:modified xsi:type="dcterms:W3CDTF">2026-02-12T19:03:09Z</dcterms:modified>
  <cp:category/>
</cp:coreProperties>
</file>