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498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Summit Voice AI × QualifyOS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D9488"/>
                </a:solidFill>
                <a:latin typeface="Calibri"/>
              </a:defRPr>
            </a:pPr>
            <a:r>
              <a:t>The Future of Customer Service &amp;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1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What We've Been 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160520"/>
            <a:ext cx="2103120" cy="36576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Dan Gill  &amp;  David Newsom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February 13, 2026</a:t>
            </a:r>
          </a:p>
        </p:txBody>
      </p:sp>
      <p:sp>
        <p:nvSpPr>
          <p:cNvPr id="8" name="Oval 7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Our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463040" cy="36576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1865376" y="1371600"/>
            <a:ext cx="0" cy="4498848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700784" y="1234440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1234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216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Started Summit Marketing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3383" y="1249259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Dan's entrepreneurial foundation</a:t>
            </a:r>
            <a:r>
              <a:rPr lang="en-US" dirty="0">
                <a:solidFill>
                  <a:schemeClr val="tx2"/>
                </a:solidFill>
              </a:rPr>
              <a:t> – Started Summit Marketing Group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700784" y="1984248"/>
            <a:ext cx="310896" cy="310896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1984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2023/24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65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Built First Voice AI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965960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Started building Voice AI Systems - </a:t>
            </a:r>
            <a:r>
              <a:rPr dirty="0">
                <a:solidFill>
                  <a:schemeClr val="tx2"/>
                </a:solidFill>
              </a:rPr>
              <a:t>The hard way — no plug-and-play shortcuts</a:t>
            </a:r>
          </a:p>
        </p:txBody>
      </p:sp>
      <p:sp>
        <p:nvSpPr>
          <p:cNvPr id="13" name="Oval 12"/>
          <p:cNvSpPr/>
          <p:nvPr/>
        </p:nvSpPr>
        <p:spPr>
          <a:xfrm>
            <a:off x="1700784" y="2734056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27340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Pitched Aetna on Voice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3383" y="2758272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Saw the healthcare opportunity early</a:t>
            </a:r>
          </a:p>
        </p:txBody>
      </p:sp>
      <p:sp>
        <p:nvSpPr>
          <p:cNvPr id="17" name="Oval 16"/>
          <p:cNvSpPr/>
          <p:nvPr/>
        </p:nvSpPr>
        <p:spPr>
          <a:xfrm>
            <a:off x="1700784" y="3483864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" y="348386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59669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655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Niched Down to Roofing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442082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Found the biggest ROI in home services</a:t>
            </a:r>
            <a:r>
              <a:rPr lang="en-US" dirty="0">
                <a:solidFill>
                  <a:schemeClr val="tx2"/>
                </a:solidFill>
              </a:rPr>
              <a:t> – Niched down with </a:t>
            </a:r>
            <a:r>
              <a:rPr lang="en-US" dirty="0" err="1">
                <a:solidFill>
                  <a:schemeClr val="tx2"/>
                </a:solidFill>
              </a:rPr>
              <a:t>SummitVoiceAI</a:t>
            </a:r>
            <a:r>
              <a:rPr lang="en-US" dirty="0">
                <a:solidFill>
                  <a:schemeClr val="tx2"/>
                </a:solidFill>
              </a:rPr>
              <a:t> into the Roofing Industry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1700784" y="4233672"/>
            <a:ext cx="310896" cy="310896"/>
          </a:xfrm>
          <a:prstGeom prst="ellipse">
            <a:avLst/>
          </a:prstGeom>
          <a:solidFill>
            <a:srgbClr val="38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" y="42336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7AC5"/>
                </a:solidFill>
                <a:latin typeface="Calibri"/>
              </a:defRPr>
            </a:pPr>
            <a:r>
              <a:t>Late 2025 /Early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2153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Built QualifyOS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183148"/>
            <a:ext cx="411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AI-powered sales operating system</a:t>
            </a:r>
            <a:r>
              <a:rPr lang="en-US" dirty="0">
                <a:solidFill>
                  <a:schemeClr val="tx2"/>
                </a:solidFill>
              </a:rPr>
              <a:t> – </a:t>
            </a:r>
            <a:r>
              <a:rPr lang="en-US" dirty="0" err="1">
                <a:solidFill>
                  <a:schemeClr val="tx2"/>
                </a:solidFill>
              </a:rPr>
              <a:t>QualifyOS</a:t>
            </a:r>
            <a:r>
              <a:rPr lang="en-US" dirty="0">
                <a:solidFill>
                  <a:schemeClr val="tx2"/>
                </a:solidFill>
              </a:rPr>
              <a:t> – The only </a:t>
            </a:r>
            <a:r>
              <a:rPr lang="en-US" dirty="0" err="1">
                <a:solidFill>
                  <a:schemeClr val="tx2"/>
                </a:solidFill>
              </a:rPr>
              <a:t>PreCRM</a:t>
            </a:r>
            <a:r>
              <a:rPr lang="en-US" dirty="0">
                <a:solidFill>
                  <a:schemeClr val="tx2"/>
                </a:solidFill>
              </a:rPr>
              <a:t> sales operating system powered by ai for the complete sales cycle.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700784" y="4983480"/>
            <a:ext cx="310896" cy="310896"/>
          </a:xfrm>
          <a:prstGeom prst="ellipse">
            <a:avLst/>
          </a:prstGeom>
          <a:solidFill>
            <a:srgbClr val="C0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983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04678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965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M/W/F Masterminds Begin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006974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Dan &amp; David: 9:30pm hackathons after the kids are asleep</a:t>
            </a:r>
          </a:p>
        </p:txBody>
      </p:sp>
      <p:sp>
        <p:nvSpPr>
          <p:cNvPr id="29" name="Oval 28"/>
          <p:cNvSpPr/>
          <p:nvPr/>
        </p:nvSpPr>
        <p:spPr>
          <a:xfrm>
            <a:off x="1700784" y="5733288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" y="57332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Building the Future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692017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Launching </a:t>
            </a:r>
            <a:r>
              <a:rPr dirty="0" err="1">
                <a:solidFill>
                  <a:schemeClr val="tx2"/>
                </a:solidFill>
              </a:rPr>
              <a:t>QualifyOS</a:t>
            </a:r>
            <a:r>
              <a:rPr dirty="0">
                <a:solidFill>
                  <a:schemeClr val="tx2"/>
                </a:solidFill>
              </a:rPr>
              <a:t>,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FlyByDate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dirty="0">
                <a:solidFill>
                  <a:schemeClr val="tx2"/>
                </a:solidFill>
              </a:rPr>
              <a:t> scaling Summit Voice AI</a:t>
            </a:r>
            <a:r>
              <a:rPr lang="en-US" dirty="0">
                <a:solidFill>
                  <a:schemeClr val="tx2"/>
                </a:solidFill>
              </a:rPr>
              <a:t>, and changing healthcare for the people it matters most to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766560" y="137160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14203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0D9488"/>
                </a:solidFill>
                <a:latin typeface="Calibri"/>
              </a:defRPr>
            </a:pPr>
            <a:r>
              <a:t>Dan &amp; David</a:t>
            </a:r>
          </a:p>
          <a:p>
            <a:pPr algn="l">
              <a:spcAft>
                <a:spcPts val="1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College roommates turned co-founders.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Two decades of friendship, one shared mission: build technology that actually helps people.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Not just for the $$$ — for the impact.</a:t>
            </a:r>
          </a:p>
        </p:txBody>
      </p:sp>
      <p:sp>
        <p:nvSpPr>
          <p:cNvPr id="35" name="Oval 34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7EBE4-3A4C-AA64-7EAC-94DDA6BC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ED02E-262B-60FC-8F49-D657F00B956B}"/>
              </a:ext>
            </a:extLst>
          </p:cNvPr>
          <p:cNvSpPr txBox="1"/>
          <p:nvPr/>
        </p:nvSpPr>
        <p:spPr>
          <a:xfrm>
            <a:off x="457200" y="27432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Why Roofing First?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C709EDF-AFF6-638A-4769-E7D7313E99A4}"/>
              </a:ext>
            </a:extLst>
          </p:cNvPr>
          <p:cNvSpPr/>
          <p:nvPr/>
        </p:nvSpPr>
        <p:spPr>
          <a:xfrm>
            <a:off x="457200" y="914400"/>
            <a:ext cx="2011680" cy="36576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45EAD1-4555-0089-3084-8B43A870799E}"/>
              </a:ext>
            </a:extLst>
          </p:cNvPr>
          <p:cNvSpPr/>
          <p:nvPr/>
        </p:nvSpPr>
        <p:spPr>
          <a:xfrm>
            <a:off x="640229" y="2390961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7F28F-583B-93D6-D7F9-D66B2309DB4A}"/>
              </a:ext>
            </a:extLst>
          </p:cNvPr>
          <p:cNvSpPr txBox="1"/>
          <p:nvPr/>
        </p:nvSpPr>
        <p:spPr>
          <a:xfrm>
            <a:off x="1121511" y="24016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Biggest ROI in home services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F57D7A-FBCC-D5B8-760A-08EB6128D3ED}"/>
              </a:ext>
            </a:extLst>
          </p:cNvPr>
          <p:cNvSpPr/>
          <p:nvPr/>
        </p:nvSpPr>
        <p:spPr>
          <a:xfrm>
            <a:off x="640229" y="3008425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📞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4EAFF-D65B-63BB-D991-BE3EF51EA0C7}"/>
              </a:ext>
            </a:extLst>
          </p:cNvPr>
          <p:cNvSpPr txBox="1"/>
          <p:nvPr/>
        </p:nvSpPr>
        <p:spPr>
          <a:xfrm>
            <a:off x="1143149" y="292604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Clear pain points (missed calls = lost revenue)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528AFB-F0EE-AEA4-5A3E-AB006D6643DA}"/>
              </a:ext>
            </a:extLst>
          </p:cNvPr>
          <p:cNvSpPr/>
          <p:nvPr/>
        </p:nvSpPr>
        <p:spPr>
          <a:xfrm>
            <a:off x="639850" y="3591805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02988-9E18-BC73-28E1-EB0813A75D72}"/>
              </a:ext>
            </a:extLst>
          </p:cNvPr>
          <p:cNvSpPr txBox="1"/>
          <p:nvPr/>
        </p:nvSpPr>
        <p:spPr>
          <a:xfrm>
            <a:off x="1143149" y="364248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24/7 Voice AI receptionist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79E0A5-6F4E-CDEC-0830-3A3645417E88}"/>
              </a:ext>
            </a:extLst>
          </p:cNvPr>
          <p:cNvSpPr/>
          <p:nvPr/>
        </p:nvSpPr>
        <p:spPr>
          <a:xfrm>
            <a:off x="642575" y="4204904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⚙️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0B5E1-9251-0322-6B24-2CE6EC280C8E}"/>
              </a:ext>
            </a:extLst>
          </p:cNvPr>
          <p:cNvSpPr txBox="1"/>
          <p:nvPr/>
        </p:nvSpPr>
        <p:spPr>
          <a:xfrm>
            <a:off x="1121511" y="42506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Backend automation stack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5E78E-1EAA-8B36-D319-759CEC0CA606}"/>
              </a:ext>
            </a:extLst>
          </p:cNvPr>
          <p:cNvSpPr txBox="1"/>
          <p:nvPr/>
        </p:nvSpPr>
        <p:spPr>
          <a:xfrm>
            <a:off x="6872604" y="1199684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9488"/>
                </a:solidFill>
                <a:latin typeface="Calibri"/>
              </a:defRPr>
            </a:pPr>
            <a:r>
              <a:rPr dirty="0"/>
              <a:t>The 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11D1D-3FCF-C543-FE61-CD0DDEE0A473}"/>
              </a:ext>
            </a:extLst>
          </p:cNvPr>
          <p:cNvSpPr txBox="1"/>
          <p:nvPr/>
        </p:nvSpPr>
        <p:spPr>
          <a:xfrm>
            <a:off x="6900519" y="1810975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Missed Calls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152CFF1-B24D-7E09-C9DA-1D83C050C7D5}"/>
              </a:ext>
            </a:extLst>
          </p:cNvPr>
          <p:cNvSpPr/>
          <p:nvPr/>
        </p:nvSpPr>
        <p:spPr>
          <a:xfrm>
            <a:off x="7083399" y="2256669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1A0E0E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BE123C"/>
                </a:solidFill>
                <a:latin typeface="Calibri"/>
              </a:defRPr>
            </a:pPr>
            <a:r>
              <a:rPr dirty="0"/>
              <a:t>40%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50570-D348-EA45-27D4-1A69990356E7}"/>
              </a:ext>
            </a:extLst>
          </p:cNvPr>
          <p:cNvSpPr txBox="1"/>
          <p:nvPr/>
        </p:nvSpPr>
        <p:spPr>
          <a:xfrm>
            <a:off x="9140799" y="2320677"/>
            <a:ext cx="548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98C128E-FBB9-F834-E5C1-DB964DFA635A}"/>
              </a:ext>
            </a:extLst>
          </p:cNvPr>
          <p:cNvSpPr/>
          <p:nvPr/>
        </p:nvSpPr>
        <p:spPr>
          <a:xfrm>
            <a:off x="9735159" y="2256669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0E1A0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D0FB8C-E84B-1392-2908-15B834CF5404}"/>
              </a:ext>
            </a:extLst>
          </p:cNvPr>
          <p:cNvSpPr txBox="1"/>
          <p:nvPr/>
        </p:nvSpPr>
        <p:spPr>
          <a:xfrm>
            <a:off x="6900519" y="311609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F2EDE0C-C9B4-665C-CED2-91615A32975F}"/>
              </a:ext>
            </a:extLst>
          </p:cNvPr>
          <p:cNvSpPr/>
          <p:nvPr/>
        </p:nvSpPr>
        <p:spPr>
          <a:xfrm>
            <a:off x="7083399" y="3436132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1A0E0E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BE123C"/>
                </a:solidFill>
                <a:latin typeface="Calibri"/>
              </a:defRPr>
            </a:pPr>
            <a:r>
              <a:t>4 hours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79DA9E-78C7-E5B4-46B0-8178A57BE195}"/>
              </a:ext>
            </a:extLst>
          </p:cNvPr>
          <p:cNvSpPr txBox="1"/>
          <p:nvPr/>
        </p:nvSpPr>
        <p:spPr>
          <a:xfrm>
            <a:off x="9140799" y="3500140"/>
            <a:ext cx="548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B1FE754-9609-28A0-EC06-C33ADAC7873B}"/>
              </a:ext>
            </a:extLst>
          </p:cNvPr>
          <p:cNvSpPr/>
          <p:nvPr/>
        </p:nvSpPr>
        <p:spPr>
          <a:xfrm>
            <a:off x="9735159" y="3436132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0E1A0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Instant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2752F7-E61B-28AA-009C-BCCD26B124A6}"/>
              </a:ext>
            </a:extLst>
          </p:cNvPr>
          <p:cNvSpPr txBox="1"/>
          <p:nvPr/>
        </p:nvSpPr>
        <p:spPr>
          <a:xfrm>
            <a:off x="6900519" y="448769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Conversion Rate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A028ECD-7331-E99F-B2BE-09377F694BB7}"/>
              </a:ext>
            </a:extLst>
          </p:cNvPr>
          <p:cNvSpPr/>
          <p:nvPr/>
        </p:nvSpPr>
        <p:spPr>
          <a:xfrm>
            <a:off x="7083399" y="4807732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1A0E0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D97706"/>
                </a:solidFill>
                <a:latin typeface="Calibri"/>
              </a:defRPr>
            </a:pPr>
            <a:r>
              <a:rPr dirty="0"/>
              <a:t>12%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B5B5A2-177C-42C7-C982-AA96B65C734F}"/>
              </a:ext>
            </a:extLst>
          </p:cNvPr>
          <p:cNvSpPr txBox="1"/>
          <p:nvPr/>
        </p:nvSpPr>
        <p:spPr>
          <a:xfrm>
            <a:off x="9140799" y="4871740"/>
            <a:ext cx="548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89F7CDC-70E7-644F-8EE0-55480F488988}"/>
              </a:ext>
            </a:extLst>
          </p:cNvPr>
          <p:cNvSpPr/>
          <p:nvPr/>
        </p:nvSpPr>
        <p:spPr>
          <a:xfrm>
            <a:off x="9735159" y="4807732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0E1A0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34%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958DCAA-2F02-A48A-F245-55129AB47906}"/>
              </a:ext>
            </a:extLst>
          </p:cNvPr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D929DF-0D46-8B2B-DED3-DEBEB40A7D10}"/>
              </a:ext>
            </a:extLst>
          </p:cNvPr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581C8F-E816-AFDD-5D11-91EDB167853A}"/>
              </a:ext>
            </a:extLst>
          </p:cNvPr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1E090D-E7E4-B233-7B85-C6D926374652}"/>
              </a:ext>
            </a:extLst>
          </p:cNvPr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A4B84D6-7E76-736C-6377-AFA58220ECA7}"/>
              </a:ext>
            </a:extLst>
          </p:cNvPr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F170068-A223-9647-9E0D-51EAC185FD6E}"/>
              </a:ext>
            </a:extLst>
          </p:cNvPr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EA6F290-1879-D724-88F1-6241FA97146F}"/>
              </a:ext>
            </a:extLst>
          </p:cNvPr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D0F1DDE-EB88-4E5B-15D6-DCA7BE1735C8}"/>
              </a:ext>
            </a:extLst>
          </p:cNvPr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34D3DC-024E-3DF2-8215-9E64887F5598}"/>
              </a:ext>
            </a:extLst>
          </p:cNvPr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00038E-3B3A-9E5B-48B2-766707CF086F}"/>
              </a:ext>
            </a:extLst>
          </p:cNvPr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3E8142B-4BAF-FA1A-E691-DD65A5ADC985}"/>
              </a:ext>
            </a:extLst>
          </p:cNvPr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7A5F2C3-B0BF-A844-A729-2C0CA0FB091E}"/>
              </a:ext>
            </a:extLst>
          </p:cNvPr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8512190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D379760F-E97C-8655-8111-5A8AE095C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472" y="1467236"/>
            <a:ext cx="5711293" cy="467467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98951" y="381822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Because of the ROI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641198" y="1056503"/>
            <a:ext cx="2011680" cy="36576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We Saw in Healthcare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94560"/>
            <a:ext cx="2377440" cy="23774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120640" y="2651760"/>
            <a:ext cx="1463040" cy="146304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😤📞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09728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⏰  45+ min wait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56032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💰  $50M annual costs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75488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📱  Reddit/Facebook complaints,</a:t>
            </a:r>
            <a:br/>
            <a:r>
              <a:t>      no one listening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🔄  IVR mazes making</a:t>
            </a:r>
            <a:br/>
            <a:r>
              <a:t>      it worse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9488"/>
                </a:solidFill>
                <a:latin typeface="Calibri"/>
              </a:defRPr>
            </a:pPr>
            <a:r>
              <a:t>What if someone actually listened?</a:t>
            </a:r>
          </a:p>
        </p:txBody>
      </p:sp>
      <p:sp>
        <p:nvSpPr>
          <p:cNvPr id="10" name="Oval 9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Idea: Find Them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lang="en-US" sz="2400" dirty="0">
                <a:solidFill>
                  <a:schemeClr val="tx2"/>
                </a:solidFill>
              </a:rPr>
              <a:t>The Power of AI-</a:t>
            </a:r>
            <a:r>
              <a:rPr lang="en-US" sz="2400" dirty="0" err="1">
                <a:solidFill>
                  <a:schemeClr val="tx2"/>
                </a:solidFill>
              </a:rPr>
              <a:t>Infastructure</a:t>
            </a:r>
            <a:endParaRPr sz="2400" dirty="0">
              <a:solidFill>
                <a:schemeClr val="tx2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2926080" cy="2011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237744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🔍 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6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194560"/>
            <a:ext cx="2926080" cy="2011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46120" y="237744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🧠 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6F1"/>
                </a:solidFill>
                <a:latin typeface="Calibri"/>
              </a:defRPr>
            </a:pPr>
            <a:r>
              <a:t>7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194560"/>
            <a:ext cx="2926080" cy="20116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0" y="237744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⚡ 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97706"/>
                </a:solidFill>
                <a:latin typeface="Calibri"/>
              </a:defRPr>
            </a:pPr>
            <a:r>
              <a:t>8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194560"/>
            <a:ext cx="2926080" cy="20116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641080" y="237744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✅ 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59669"/>
                </a:solidFill>
                <a:latin typeface="Calibri"/>
              </a:defRPr>
            </a:pPr>
            <a:r>
              <a:t>All 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Reddit  —  r/insurance complaints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10912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Facebook  —  Medicare groups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9824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LinkedIn  —  Healthcare discussions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88736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Blogs  —  Comment sections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5720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Pain Points  —  Extraction &amp; tagging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5010912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Contacts  —  Enrichment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5449824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Urgency  —  Scoring (1-10)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5888736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Routing  —  Channel assignment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5720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📞 Phone  —  High priority → 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010912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💬 SMS  —  Medium → 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449824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📧 Email  —  Low → resources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5720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🗣️ Dialogue  —  Natural conversation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5010912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📊 Options  —  All plans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5449824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✅ Match  —  Best fit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888736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🔗 Connect  —  Handoff</a:t>
            </a:r>
          </a:p>
        </p:txBody>
      </p:sp>
      <p:sp>
        <p:nvSpPr>
          <p:cNvPr id="34" name="Oval 33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How It Actually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3444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 AM</a:t>
            </a:r>
          </a:p>
        </p:txBody>
      </p:sp>
      <p:sp>
        <p:nvSpPr>
          <p:cNvPr id="4" name="Oval 3"/>
          <p:cNvSpPr/>
          <p:nvPr/>
        </p:nvSpPr>
        <p:spPr>
          <a:xfrm>
            <a:off x="1645920" y="1188720"/>
            <a:ext cx="502920" cy="50292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234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  <a:latin typeface="Calibri"/>
              </a:defRPr>
            </a:pPr>
            <a:r>
              <a:t>Discovery Phase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Reddit posts about insurance problems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1887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Facebook group complaints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727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LinkedIn healthcare discussions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5727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Blog comment frustrations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1691640"/>
            <a:ext cx="0" cy="868680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" y="260604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 AM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2560320"/>
            <a:ext cx="502920" cy="50292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  <a:latin typeface="Calibri"/>
              </a:defRPr>
            </a:pPr>
            <a:r>
              <a:t>Intelligence Phase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5603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Extract struggles &amp; pain 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5603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Find contact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9443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Score urgency (green → yellow → red)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9443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Route to appropriate response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3063240"/>
            <a:ext cx="0" cy="868680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" y="397764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 AM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0" y="3931920"/>
            <a:ext cx="502920" cy="50292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977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97706"/>
                </a:solidFill>
                <a:latin typeface="Calibri"/>
              </a:defRPr>
            </a:pPr>
            <a:r>
              <a:t>Response Phase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9319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High priority → Phone 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9319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Medium → SMS outreach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3159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Low → Email with resources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74519" y="4434840"/>
            <a:ext cx="0" cy="868680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5760" y="534924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All Day</a:t>
            </a:r>
          </a:p>
        </p:txBody>
      </p:sp>
      <p:sp>
        <p:nvSpPr>
          <p:cNvPr id="27" name="Oval 26"/>
          <p:cNvSpPr/>
          <p:nvPr/>
        </p:nvSpPr>
        <p:spPr>
          <a:xfrm>
            <a:off x="1645920" y="5303520"/>
            <a:ext cx="502920" cy="50292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Calibri"/>
              </a:defRPr>
            </a:pPr>
            <a:r>
              <a:t>Resolution Phase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53035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Voice AI conversation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53035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Access ALL insurance options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56875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Find best fit &amp; connect to provider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56875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Automated follow-up</a:t>
            </a:r>
          </a:p>
        </p:txBody>
      </p:sp>
      <p:sp>
        <p:nvSpPr>
          <p:cNvPr id="33" name="Oval 32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ServiceHive</a:t>
            </a:r>
            <a:r>
              <a:rPr dirty="0"/>
              <a:t>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64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0D9488"/>
                </a:solidFill>
                <a:latin typeface="Calibri"/>
              </a:defRPr>
            </a:pPr>
            <a:r>
              <a:t>Real-Time Member Discovery &amp; Engagement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11612880" cy="58064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DFDCC2-D20A-37E8-0955-C63038F0A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07678"/>
            <a:ext cx="2190317" cy="2920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759181-4382-A235-C735-300A89A966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10" t="32432" r="17788" b="37207"/>
          <a:stretch>
            <a:fillRect/>
          </a:stretch>
        </p:blipFill>
        <p:spPr>
          <a:xfrm>
            <a:off x="432486" y="584528"/>
            <a:ext cx="902043" cy="29542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QualifyOS  +  Summit Voice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D9488"/>
                </a:solidFill>
                <a:latin typeface="Calibri"/>
              </a:defRPr>
            </a:pPr>
            <a:r>
              <a:t>The voice people actually want to talk to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24/7 Multilingual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55868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27</a:t>
            </a:r>
            <a:r>
              <a:rPr dirty="0">
                <a:solidFill>
                  <a:schemeClr val="tx2"/>
                </a:solidFill>
              </a:rPr>
              <a:t>+ languages, always on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Empathetic, Not Robotic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567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Trained on real conversations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CMS-Trained for 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4275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Compliance-ready from day one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Real-time Translation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9194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Break language barriers instantly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Integrates with Any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56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API-first, plug and play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486400" cy="1371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3657600" cy="27432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371600" y="4846320"/>
            <a:ext cx="7315200" cy="59436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38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Member: "I'm confused about my prescription coverage..."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5577840"/>
            <a:ext cx="7315200" cy="594360"/>
          </a:xfrm>
          <a:prstGeom prst="roundRect">
            <a:avLst>
              <a:gd name="adj" fmla="val 10000"/>
            </a:avLst>
          </a:prstGeom>
          <a:solidFill>
            <a:srgbClr val="102A3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AI: "I understand. Let me look at your plan and explain your options clearly..."</a:t>
            </a:r>
          </a:p>
        </p:txBody>
      </p:sp>
      <p:sp>
        <p:nvSpPr>
          <p:cNvPr id="23" name="Oval 22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Same Tech Stack, Different Problems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" y="137160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Roofing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▸ 0% missed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▸ 34%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8872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720" y="137160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Home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  <a:latin typeface="Calibri"/>
              </a:defRPr>
            </a:pPr>
            <a:r>
              <a:t>▸ 24/7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  <a:latin typeface="Calibri"/>
              </a:defRPr>
            </a:pPr>
            <a:r>
              <a:t>▸ 3x lead capture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18872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66760" y="137160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Insurance Brokers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D9488"/>
                </a:solidFill>
                <a:latin typeface="Calibri"/>
              </a:defRPr>
            </a:pPr>
            <a:r>
              <a:t>▸ Instant quotes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D9488"/>
                </a:solidFill>
                <a:latin typeface="Calibri"/>
              </a:defRPr>
            </a:pPr>
            <a:r>
              <a:t>▸ Auto-qualification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4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393192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Call Centers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59669"/>
                </a:solidFill>
                <a:latin typeface="Calibri"/>
              </a:defRPr>
            </a:pPr>
            <a:r>
              <a:t>▸ 87%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59669"/>
                </a:solidFill>
                <a:latin typeface="Calibri"/>
              </a:defRPr>
            </a:pPr>
            <a:r>
              <a:t>▸ 60% cost reduction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74904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C0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17720" y="393192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Customer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4678"/>
                </a:solidFill>
                <a:latin typeface="Calibri"/>
              </a:defRPr>
            </a:pPr>
            <a:r>
              <a:t>▸ 2 min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4678"/>
                </a:solidFill>
                <a:latin typeface="Calibri"/>
              </a:defRPr>
            </a:pPr>
            <a:r>
              <a:t>▸ 4.8★ rating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74904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66760" y="393192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Complex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▸ Guided selling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▸ 2x close rate</a:t>
            </a:r>
          </a:p>
        </p:txBody>
      </p:sp>
      <p:sp>
        <p:nvSpPr>
          <p:cNvPr id="33" name="Oval 32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Automation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645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0D9488"/>
                </a:solidFill>
                <a:latin typeface="Calibri"/>
              </a:defRPr>
            </a:pPr>
            <a:r>
              <a:t>Built with n8n + Claude Code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43159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28800" y="5212080"/>
            <a:ext cx="8503920" cy="64008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With tools like Claude Code, we prototype workflows in hours, not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D97706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D9488"/>
                </a:solidFill>
                <a:latin typeface="Calibri"/>
              </a:defRPr>
            </a:pPr>
            <a:r>
              <a:t>Claude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59669"/>
                </a:solidFill>
                <a:latin typeface="Calibri"/>
              </a:defRPr>
            </a:pPr>
            <a:r>
              <a:t>Voice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4A853"/>
                </a:solidFill>
                <a:latin typeface="Calibri"/>
              </a:defRPr>
            </a:pPr>
            <a:r>
              <a:t>Google Sheets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6366F1"/>
                </a:solidFill>
                <a:latin typeface="Calibri"/>
              </a:defRPr>
            </a:pPr>
            <a:r>
              <a:t>Replit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E07A5F"/>
                </a:solidFill>
                <a:latin typeface="Calibri"/>
              </a:defRPr>
            </a:pPr>
            <a:r>
              <a:t>Reddit API</a:t>
            </a:r>
          </a:p>
        </p:txBody>
      </p:sp>
      <p:sp>
        <p:nvSpPr>
          <p:cNvPr id="12" name="Oval 11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D62B7-BBC7-019F-41AA-8AEEF07A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59A8AE-9820-15F2-6995-EA679B87E766}"/>
              </a:ext>
            </a:extLst>
          </p:cNvPr>
          <p:cNvSpPr txBox="1"/>
          <p:nvPr/>
        </p:nvSpPr>
        <p:spPr>
          <a:xfrm>
            <a:off x="274320" y="109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Automation Engine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8A2E9-7268-7A76-E277-A3550B88C342}"/>
              </a:ext>
            </a:extLst>
          </p:cNvPr>
          <p:cNvSpPr txBox="1"/>
          <p:nvPr/>
        </p:nvSpPr>
        <p:spPr>
          <a:xfrm>
            <a:off x="5943600" y="1645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0D9488"/>
                </a:solidFill>
                <a:latin typeface="Calibri"/>
              </a:defRPr>
            </a:pPr>
            <a:r>
              <a:t>Built with n8n + Claude Code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0879A7-DBF1-2F44-A28B-746C94C05C11}"/>
              </a:ext>
            </a:extLst>
          </p:cNvPr>
          <p:cNvSpPr/>
          <p:nvPr/>
        </p:nvSpPr>
        <p:spPr>
          <a:xfrm>
            <a:off x="274320" y="4835144"/>
            <a:ext cx="11779696" cy="1017016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Unlimited people with a true need – and that is the problem. They are asking for help in all the wrong places because they can’t trust the healthcare system to give honest advice. </a:t>
            </a:r>
            <a:br>
              <a:rPr lang="en-US" dirty="0"/>
            </a:br>
            <a:r>
              <a:rPr lang="en-US" dirty="0"/>
              <a:t>At times they can’t even reach someone that who can actually help…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12C9D1-CEAC-DB58-5FBE-EC1FA0B1C5B8}"/>
              </a:ext>
            </a:extLst>
          </p:cNvPr>
          <p:cNvSpPr/>
          <p:nvPr/>
        </p:nvSpPr>
        <p:spPr>
          <a:xfrm>
            <a:off x="182880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D97706"/>
                </a:solidFill>
                <a:latin typeface="Calibri"/>
              </a:defRPr>
            </a:pPr>
            <a:r>
              <a:rPr lang="en-US" dirty="0"/>
              <a:t>Daily Search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3CDE0F-0A1F-4C4B-46B7-C5295ACFBA40}"/>
              </a:ext>
            </a:extLst>
          </p:cNvPr>
          <p:cNvSpPr/>
          <p:nvPr/>
        </p:nvSpPr>
        <p:spPr>
          <a:xfrm>
            <a:off x="329184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D9488"/>
                </a:solidFill>
                <a:latin typeface="Calibri"/>
              </a:defRPr>
            </a:pPr>
            <a:r>
              <a:rPr lang="en-US" dirty="0"/>
              <a:t>Across All Networks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DCBF47-66FB-2012-ED9D-425A5E90AAC1}"/>
              </a:ext>
            </a:extLst>
          </p:cNvPr>
          <p:cNvSpPr/>
          <p:nvPr/>
        </p:nvSpPr>
        <p:spPr>
          <a:xfrm>
            <a:off x="475488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59669"/>
                </a:solidFill>
                <a:latin typeface="Calibri"/>
              </a:defRPr>
            </a:pPr>
            <a:r>
              <a:rPr lang="en-US" dirty="0"/>
              <a:t>Store/Update Data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788B156-0C1F-32EF-86AD-1983E51D731D}"/>
              </a:ext>
            </a:extLst>
          </p:cNvPr>
          <p:cNvSpPr/>
          <p:nvPr/>
        </p:nvSpPr>
        <p:spPr>
          <a:xfrm>
            <a:off x="621792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4A853"/>
                </a:solidFill>
                <a:latin typeface="Calibri"/>
              </a:defRPr>
            </a:pPr>
            <a:r>
              <a:rPr lang="en-US" dirty="0"/>
              <a:t>Reach Out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5298BEF-9B80-C199-5769-6AFB49C9E2E2}"/>
              </a:ext>
            </a:extLst>
          </p:cNvPr>
          <p:cNvSpPr/>
          <p:nvPr/>
        </p:nvSpPr>
        <p:spPr>
          <a:xfrm>
            <a:off x="768096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6366F1"/>
                </a:solidFill>
                <a:latin typeface="Calibri"/>
              </a:defRPr>
            </a:pPr>
            <a:r>
              <a:rPr lang="en-US" dirty="0"/>
              <a:t>Help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F860715-0687-D37C-1E89-E9C01AD7693B}"/>
              </a:ext>
            </a:extLst>
          </p:cNvPr>
          <p:cNvSpPr/>
          <p:nvPr/>
        </p:nvSpPr>
        <p:spPr>
          <a:xfrm>
            <a:off x="914400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E07A5F"/>
                </a:solidFill>
                <a:latin typeface="Calibri"/>
              </a:defRPr>
            </a:pPr>
            <a:r>
              <a:rPr lang="en-US" dirty="0"/>
              <a:t>Support</a:t>
            </a:r>
            <a:endParaRPr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9F9A4D-9609-9BE3-59F5-FAEC84ECC35C}"/>
              </a:ext>
            </a:extLst>
          </p:cNvPr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3C146B-62C3-2A05-0672-D55A7B8B95AD}"/>
              </a:ext>
            </a:extLst>
          </p:cNvPr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A88104-0AA6-24CB-7F2D-88046F319707}"/>
              </a:ext>
            </a:extLst>
          </p:cNvPr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542AD7-D5BC-E394-8AC6-3176C9F5ED14}"/>
              </a:ext>
            </a:extLst>
          </p:cNvPr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B62368-FE8C-1539-4E8C-DC9291982501}"/>
              </a:ext>
            </a:extLst>
          </p:cNvPr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F8F63E-3999-4F25-3645-9D11387745F4}"/>
              </a:ext>
            </a:extLst>
          </p:cNvPr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CEB627-3E78-628E-0B8B-737A6A0AE0AB}"/>
              </a:ext>
            </a:extLst>
          </p:cNvPr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9D5625-D8EB-374F-F250-7BAA243C1C32}"/>
              </a:ext>
            </a:extLst>
          </p:cNvPr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875458-D4BE-7F2D-11CF-A53CF53E765B}"/>
              </a:ext>
            </a:extLst>
          </p:cNvPr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FA4531C-342E-8D59-BF71-C09E354FE2F9}"/>
              </a:ext>
            </a:extLst>
          </p:cNvPr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092AC61-1044-5476-1E92-B67D1774B196}"/>
              </a:ext>
            </a:extLst>
          </p:cNvPr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264C442-4030-9A96-2579-FF271ED0E062}"/>
              </a:ext>
            </a:extLst>
          </p:cNvPr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42568AB-2BF3-B078-4DC9-6C751062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04" y="667512"/>
            <a:ext cx="8719751" cy="406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921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4155" y="1234440"/>
            <a:ext cx="2650524" cy="43891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54579" y="3233057"/>
            <a:ext cx="515380" cy="64008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4155" y="2240280"/>
            <a:ext cx="2650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  <a:latin typeface="Calibri"/>
              </a:defRPr>
            </a:pPr>
            <a:r>
              <a:t>QualifyOS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8475" y="274320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Launching publicly Q2 202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518475" y="324612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40+ offer templates trained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8475" y="374904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1,800+ document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8475" y="425196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Live AI sales 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475" y="463802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Built from 4 months of obsession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379" y="1234440"/>
            <a:ext cx="2650524" cy="43891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4379" y="2240280"/>
            <a:ext cx="2650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97706"/>
                </a:solidFill>
                <a:latin typeface="Calibri"/>
              </a:defRPr>
            </a:pPr>
            <a:r>
              <a:t>Summit Voice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699" y="274320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Expanding beyond roofing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699" y="324612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Healthcare, home services, call centers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699" y="374904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24/7 multilingual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699" y="425196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Integration-ready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9013" y="1234440"/>
            <a:ext cx="2650524" cy="43891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3333" y="274320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Proactive member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3333" y="324612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Multi-source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3333" y="374904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Voice AI orchestration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3333" y="425196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Changing how insurance listens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Calibri"/>
              </a:defRPr>
            </a:pPr>
            <a:r>
              <a:t>This is what we do at 9:30pm after the kids are asleep. Imagine what we could do with more time.</a:t>
            </a:r>
          </a:p>
        </p:txBody>
      </p:sp>
      <p:sp>
        <p:nvSpPr>
          <p:cNvPr id="26" name="Oval 25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2">
            <a:extLst>
              <a:ext uri="{FF2B5EF4-FFF2-40B4-BE49-F238E27FC236}">
                <a16:creationId xmlns:a16="http://schemas.microsoft.com/office/drawing/2014/main" id="{8B0D0F23-54D2-E1C0-F089-FA57B9F099E9}"/>
              </a:ext>
            </a:extLst>
          </p:cNvPr>
          <p:cNvSpPr/>
          <p:nvPr/>
        </p:nvSpPr>
        <p:spPr>
          <a:xfrm>
            <a:off x="6233931" y="1234440"/>
            <a:ext cx="2650524" cy="43891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2E9388-881C-BFAC-B1F8-3EFF78D492F0}"/>
              </a:ext>
            </a:extLst>
          </p:cNvPr>
          <p:cNvSpPr txBox="1"/>
          <p:nvPr/>
        </p:nvSpPr>
        <p:spPr>
          <a:xfrm>
            <a:off x="6508251" y="274320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Launching publicly Q</a:t>
            </a:r>
            <a:r>
              <a:rPr lang="en-US" dirty="0"/>
              <a:t>3</a:t>
            </a:r>
            <a:r>
              <a:rPr dirty="0"/>
              <a:t> 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01B608-1F78-3298-BDDE-BA8B12DB3ED1}"/>
              </a:ext>
            </a:extLst>
          </p:cNvPr>
          <p:cNvSpPr txBox="1"/>
          <p:nvPr/>
        </p:nvSpPr>
        <p:spPr>
          <a:xfrm>
            <a:off x="6508251" y="324612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lang="en-US" dirty="0"/>
              <a:t>▸  Airport-verified dating &amp; Networking</a:t>
            </a:r>
            <a:endParaRPr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9A9675-3E54-BD70-8E5C-00FA90706AD2}"/>
              </a:ext>
            </a:extLst>
          </p:cNvPr>
          <p:cNvSpPr txBox="1"/>
          <p:nvPr/>
        </p:nvSpPr>
        <p:spPr>
          <a:xfrm>
            <a:off x="6508251" y="374904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</a:t>
            </a:r>
            <a:r>
              <a:rPr lang="en-US" dirty="0"/>
              <a:t>AI-Powered </a:t>
            </a:r>
            <a:r>
              <a:rPr lang="en-US" dirty="0" err="1"/>
              <a:t>FlyScore</a:t>
            </a:r>
            <a:r>
              <a:rPr lang="en-US" dirty="0"/>
              <a:t> matching</a:t>
            </a: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36249E-15E7-EBD0-C4CE-55F87F91FADF}"/>
              </a:ext>
            </a:extLst>
          </p:cNvPr>
          <p:cNvSpPr txBox="1"/>
          <p:nvPr/>
        </p:nvSpPr>
        <p:spPr>
          <a:xfrm>
            <a:off x="6508251" y="425196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</a:t>
            </a:r>
            <a:r>
              <a:rPr lang="en-US" dirty="0"/>
              <a:t>Time-synced connections during layovers</a:t>
            </a:r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4E0E84-4C8E-BBF1-1B6D-23B3D4911E4E}"/>
              </a:ext>
            </a:extLst>
          </p:cNvPr>
          <p:cNvSpPr txBox="1"/>
          <p:nvPr/>
        </p:nvSpPr>
        <p:spPr>
          <a:xfrm>
            <a:off x="6508251" y="475488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</a:t>
            </a:r>
            <a:r>
              <a:rPr lang="en-US" dirty="0"/>
              <a:t>Zero direct competitors</a:t>
            </a:r>
            <a:endParaRPr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B79E54-FA39-4B8A-05F7-0EC70244E8BA}"/>
              </a:ext>
            </a:extLst>
          </p:cNvPr>
          <p:cNvSpPr txBox="1"/>
          <p:nvPr/>
        </p:nvSpPr>
        <p:spPr>
          <a:xfrm>
            <a:off x="6508251" y="5024234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Built from </a:t>
            </a:r>
            <a:r>
              <a:rPr lang="en-US" dirty="0"/>
              <a:t>10 years of vision</a:t>
            </a:r>
            <a:endParaRPr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BEE1C76-180F-C80C-D351-149253562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363" y="1491019"/>
            <a:ext cx="558476" cy="53328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AC4E723-7E9A-BB22-ED4E-284E51E5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3" y="1873739"/>
            <a:ext cx="1927868" cy="86005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27D23BC-6989-8E27-B071-8367E7F8B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121" y="1508733"/>
            <a:ext cx="581925" cy="52241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B3E032A-D328-838B-CB7C-5D62AAEAF5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045" t="32854" r="18033" b="38454"/>
          <a:stretch>
            <a:fillRect/>
          </a:stretch>
        </p:blipFill>
        <p:spPr>
          <a:xfrm>
            <a:off x="9423333" y="2031152"/>
            <a:ext cx="2069625" cy="63929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Thanks for connecting.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D9488"/>
                </a:solidFill>
                <a:latin typeface="Calibri"/>
              </a:defRPr>
            </a:pPr>
            <a:r>
              <a:t>Let's keep building.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840480"/>
            <a:ext cx="2103120" cy="36576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Dan Gill  •  dan@summitmktggroup.com  •  (757) 329-5913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David Newsom  •  davidnewsom</a:t>
            </a:r>
            <a:r>
              <a:rPr lang="en-US" dirty="0"/>
              <a:t>5</a:t>
            </a:r>
            <a:r>
              <a:rPr dirty="0"/>
              <a:t>@</a:t>
            </a:r>
            <a:r>
              <a:rPr lang="en-US" dirty="0"/>
              <a:t>gmail</a:t>
            </a:r>
            <a:r>
              <a:rPr dirty="0"/>
              <a:t>.com</a:t>
            </a:r>
          </a:p>
        </p:txBody>
      </p:sp>
      <p:sp>
        <p:nvSpPr>
          <p:cNvPr id="7" name="Oval 6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930</Words>
  <Application>Microsoft Office PowerPoint</Application>
  <PresentationFormat>Widescreen</PresentationFormat>
  <Paragraphs>216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 Gill</cp:lastModifiedBy>
  <cp:revision>4</cp:revision>
  <dcterms:created xsi:type="dcterms:W3CDTF">2013-01-27T09:14:16Z</dcterms:created>
  <dcterms:modified xsi:type="dcterms:W3CDTF">2026-02-12T19:03:09Z</dcterms:modified>
  <cp:category/>
</cp:coreProperties>
</file>