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1 - INTRO</a:t>
            </a:r>
          </a:p>
          <a:p>
            <a:r>
              <a:t>[TIMING: ~30 seconds]</a:t>
            </a:r>
          </a:p>
          <a:p/>
          <a:p>
            <a:r>
              <a:t>Keep this simple. Don't oversell.</a:t>
            </a:r>
          </a:p>
          <a:p/>
          <a:p>
            <a:r>
              <a:t>SAY: "Thanks for making time. We want to show you what we've been building together. This isn't a pitch deck - this is more of a 'hey, look at this cool thing' kind of conversation."</a:t>
            </a:r>
          </a:p>
          <a:p/>
          <a:p>
            <a:r>
              <a:t>CLICK: Advance to next slide when ready.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2 - THE REAL STORY (TIMELINE)</a:t>
            </a:r>
          </a:p>
          <a:p>
            <a:r>
              <a:t>[TIMING: 2-3 minutes]</a:t>
            </a:r>
          </a:p>
          <a:p/>
          <a:p>
            <a:r>
              <a:t>Walk through the timeline naturally, like telling a story to a friend.</a:t>
            </a:r>
          </a:p>
          <a:p/>
          <a:p>
            <a:r>
              <a:t>SAY: "So here's how we got here. It wasn't planned - it evolved."</a:t>
            </a:r>
          </a:p>
          <a:p/>
          <a:p>
            <a:r>
              <a:t>FOR EACH NODE:</a:t>
            </a:r>
          </a:p>
          <a:p>
            <a:r>
              <a:t>- 2020: "Started Summit as a marketing agency. Learned how businesses actually work."</a:t>
            </a:r>
          </a:p>
          <a:p>
            <a:r>
              <a:t>- 2022: "Got obsessed with Voice AI. Built systems the hard way - no shortcuts."</a:t>
            </a:r>
          </a:p>
          <a:p>
            <a:r>
              <a:t>- 2023: "Pitched Aetna. They loved the idea but timing wasn't right. Healthcare stuck with us though."</a:t>
            </a:r>
          </a:p>
          <a:p>
            <a:r>
              <a:t>- 2024: "Roofing opportunity came along. Built QualifyOS to prove the stack works."</a:t>
            </a:r>
          </a:p>
          <a:p>
            <a:r>
              <a:t>- 2025: "Met David. Started our M/W/F 9:30 PM sessions. That's when everything clicked."</a:t>
            </a:r>
          </a:p>
          <a:p>
            <a:r>
              <a:t>- Now: "Building Lighthouse - what insurance should have been all along."</a:t>
            </a:r>
          </a:p>
          <a:p/>
          <a:p>
            <a:r>
              <a:t>KEY POINT: Emphasize this wasn't a pivot - it was an evolution. Each step built on the last.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3 - WHERE WE STARTED (ROOFING)</a:t>
            </a:r>
          </a:p>
          <a:p>
            <a:r>
              <a:t>[TIMING: 1-2 minutes]</a:t>
            </a:r>
          </a:p>
          <a:p/>
          <a:p>
            <a:r>
              <a:t>SAY: "Before healthcare, we proved everything in roofing. Why? Because it's the highest-ROI home service vertical and the pain points are crystal clear."</a:t>
            </a:r>
          </a:p>
          <a:p/>
          <a:p>
            <a:r>
              <a:t>WALK THROUGH BULLETS:</a:t>
            </a:r>
          </a:p>
          <a:p>
            <a:r>
              <a:t>- "Every storm creates a surge. Roofers who answer first, win."</a:t>
            </a:r>
          </a:p>
          <a:p>
            <a:r>
              <a:t>- "We built a 24/7 Voice AI receptionist. Zero missed calls."</a:t>
            </a:r>
          </a:p>
          <a:p>
            <a:r>
              <a:t>- "The whole backend is automated - from lead capture to follow-up."</a:t>
            </a:r>
          </a:p>
          <a:p/>
          <a:p>
            <a:r>
              <a:t>POINT TO METRICS:</a:t>
            </a:r>
          </a:p>
          <a:p>
            <a:r>
              <a:t>- "Look at the numbers. 40% missed calls to zero. 4-hour response time to instant. Conversion nearly tripled."</a:t>
            </a:r>
          </a:p>
          <a:p>
            <a:r>
              <a:t>- "This is what gave us confidence the stack works."</a:t>
            </a:r>
          </a:p>
          <a:p/>
          <a:p>
            <a:r>
              <a:t>TRANSITION: "So we'd proven the tech. But healthcare was always where we wanted to be..."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4 - WHAT WE SAW IN HEALTHCARE</a:t>
            </a:r>
          </a:p>
          <a:p>
            <a:r>
              <a:t>[TIMING: 2 minutes]</a:t>
            </a:r>
          </a:p>
          <a:p/>
          <a:p>
            <a:r>
              <a:t>SAY: "Here's what we kept seeing in healthcare."</a:t>
            </a:r>
          </a:p>
          <a:p/>
          <a:p>
            <a:r>
              <a:t>WALK THROUGH EACH BUBBLE (they appear one by one):</a:t>
            </a:r>
          </a:p>
          <a:p>
            <a:r>
              <a:t>1. "45-minute average wait times. That's just... broken."</a:t>
            </a:r>
          </a:p>
          <a:p>
            <a:r>
              <a:t>2. "$50 million a year in contact center costs for large insurers."</a:t>
            </a:r>
          </a:p>
          <a:p>
            <a:r>
              <a:t>3. "Meanwhile, members are on Reddit and Facebook complaining because nobody's listening."</a:t>
            </a:r>
          </a:p>
          <a:p>
            <a:r>
              <a:t>4. "And the IVR systems? They make it worse. Press 1, press 2, press give up."</a:t>
            </a:r>
          </a:p>
          <a:p/>
          <a:p>
            <a:r>
              <a:t>PAUSE, then:</a:t>
            </a:r>
          </a:p>
          <a:p>
            <a:r>
              <a:t>SAY: "So we asked a simple question..." [point to bottom callout]</a:t>
            </a:r>
          </a:p>
          <a:p>
            <a:r>
              <a:t>"What if someone actually listened?"</a:t>
            </a:r>
          </a:p>
          <a:p/>
          <a:p>
            <a:r>
              <a:t>TRANSITION: "That's when we had the idea that changed everything..."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5 - THE IDEA: FIND THEM FIRST</a:t>
            </a:r>
          </a:p>
          <a:p>
            <a:r>
              <a:t>[TIMING: 2-3 minutes]</a:t>
            </a:r>
          </a:p>
          <a:p/>
          <a:p>
            <a:r>
              <a:t>This is the BIG IDEA slide. Take your time here.</a:t>
            </a:r>
          </a:p>
          <a:p/>
          <a:p>
            <a:r>
              <a:t>SAY: "Here's the core insight: don't wait for members to call. Find them where they're already struggling."</a:t>
            </a:r>
          </a:p>
          <a:p/>
          <a:p>
            <a:r>
              <a:t>WALK THROUGH THE FLOW:</a:t>
            </a:r>
          </a:p>
          <a:p>
            <a:r>
              <a:t>1. DISCOVERY: "Every morning at 6 AM, our system scans Reddit, Facebook, LinkedIn, blog comments - anywhere people are talking about insurance problems."</a:t>
            </a:r>
          </a:p>
          <a:p/>
          <a:p>
            <a:r>
              <a:t>2. INTELLIGENCE: "AI analyzes each post, extracts the pain point, finds contact info, and scores urgency on a 1-10 scale."</a:t>
            </a:r>
          </a:p>
          <a:p/>
          <a:p>
            <a:r>
              <a:t>3. RESPONSE: "High urgency? Phone call. Medium? SMS. Lower? Email with resources. Right channel, right time."</a:t>
            </a:r>
          </a:p>
          <a:p/>
          <a:p>
            <a:r>
              <a:t>4. RESOLUTION: "When we connect, it's a real conversation. Not a sales pitch. We help them understand ALL their options and find the best fit."</a:t>
            </a:r>
          </a:p>
          <a:p/>
          <a:p>
            <a:r>
              <a:t>CLICK: You can click each node to show the detail panel below it.</a:t>
            </a:r>
          </a:p>
          <a:p/>
          <a:p>
            <a:r>
              <a:t>KEY POINT: "The member never had to call anyone. We found them and helped before they even knew to ask."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6 - HOW IT ACTUALLY WORKS</a:t>
            </a:r>
          </a:p>
          <a:p>
            <a:r>
              <a:t>[TIMING: 2-3 minutes]</a:t>
            </a:r>
          </a:p>
          <a:p/>
          <a:p>
            <a:r>
              <a:t>SAY: "Let me walk you through what a typical day looks like."</a:t>
            </a:r>
          </a:p>
          <a:p/>
          <a:p>
            <a:r>
              <a:t>WALK THROUGH EACH PHASE:</a:t>
            </a:r>
          </a:p>
          <a:p>
            <a:r>
              <a:t>- 6 AM: "System wakes up, starts scanning. Reddit, Facebook, LinkedIn, blog comments. Looking for real people with real insurance problems."</a:t>
            </a:r>
          </a:p>
          <a:p>
            <a:r>
              <a:t>- 7 AM: "AI processes everything. Extracts the actual struggle, finds contact info, scores urgency."</a:t>
            </a:r>
          </a:p>
          <a:p>
            <a:r>
              <a:t>- 8 AM: "Outreach begins. High priority gets a phone call. Medium gets a text. Others get a helpful email."</a:t>
            </a:r>
          </a:p>
          <a:p>
            <a:r>
              <a:t>- All Day: "Conversations happen naturally. Voice AI talks to members, understands ALL options, finds best fit."</a:t>
            </a:r>
          </a:p>
          <a:p/>
          <a:p>
            <a:r>
              <a:t>POINT TO RIGHT PANEL:</a:t>
            </a:r>
          </a:p>
          <a:p>
            <a:r>
              <a:t>- "These are real-ish numbers from our prototype. 47 discoveries, 94% resolution, under 3 minutes average response."</a:t>
            </a:r>
          </a:p>
          <a:p/>
          <a:p>
            <a:r>
              <a:t>KEY POINT: "This all runs autonomously. No human has to trigger anything."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7 - LIVE DEMO: THE DASHBOARD</a:t>
            </a:r>
          </a:p>
          <a:p>
            <a:r>
              <a:t>[TIMING: 3-4 minutes - THIS IS THE MONEY SLIDE]</a:t>
            </a:r>
          </a:p>
          <a:p/>
          <a:p>
            <a:r>
              <a:t>SAY: "Now let me show you what this actually looks like when it's running."</a:t>
            </a:r>
          </a:p>
          <a:p/>
          <a:p>
            <a:r>
              <a:t>WALK THROUGH THE DASHBOARD:</a:t>
            </a:r>
          </a:p>
          <a:p/>
          <a:p>
            <a:r>
              <a:t>TOP ROW (KPIs):</a:t>
            </a:r>
          </a:p>
          <a:p>
            <a:r>
              <a:t>- "47 discoveries today. 12 active conversations right now. 94% resolution rate."</a:t>
            </a:r>
          </a:p>
          <a:p>
            <a:r>
              <a:t>- "Average response time: 2.3 minutes. Not hours. Minutes."</a:t>
            </a:r>
          </a:p>
          <a:p/>
          <a:p>
            <a:r>
              <a:t>CHARTS:</a:t>
            </a:r>
          </a:p>
          <a:p>
            <a:r>
              <a:t>- "On the left, pain point distribution. Claim denials are #1 - that tells us a lot."</a:t>
            </a:r>
          </a:p>
          <a:p>
            <a:r>
              <a:t>- "On the right, sentiment analysis. 62% positive because we're actually helping."</a:t>
            </a:r>
          </a:p>
          <a:p/>
          <a:p>
            <a:r>
              <a:t>TABLE:</a:t>
            </a:r>
          </a:p>
          <a:p>
            <a:r>
              <a:t>- "Here's the real magic. Sarah posted on Reddit about a denied claim. We found her at 6 AM, called by 8 AM, resolved by 10."</a:t>
            </a:r>
          </a:p>
          <a:p>
            <a:r>
              <a:t>- "John was confused about coverage on Facebook. Got a text with a clear explanation."</a:t>
            </a:r>
          </a:p>
          <a:p>
            <a:r>
              <a:t>- Point to each row briefly.</a:t>
            </a:r>
          </a:p>
          <a:p/>
          <a:p>
            <a:r>
              <a:t>BOTTOM RIGHT:</a:t>
            </a:r>
          </a:p>
          <a:p>
            <a:r>
              <a:t>- "And yeah - this is running right now."</a:t>
            </a:r>
          </a:p>
          <a:p/>
          <a:p>
            <a:r>
              <a:t>TIP: If you have the actual Replit dashboard running, now is the time to switch to a live demo. If not, this slide IS the demo.</a:t>
            </a:r>
          </a:p>
          <a:p/>
          <a:p>
            <a:r>
              <a:t>TRANSITION: "Let me show you the Voice AI that powers those conversations..."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8 - VOICE AI DEMO</a:t>
            </a:r>
          </a:p>
          <a:p>
            <a:r>
              <a:t>[TIMING: 2-3 minutes]</a:t>
            </a:r>
          </a:p>
          <a:p/>
          <a:p>
            <a:r>
              <a:t>SAY: "Now the secret weapon - the Voice AI itself."</a:t>
            </a:r>
          </a:p>
          <a:p/>
          <a:p>
            <a:r>
              <a:t>WALK THROUGH CAPABILITIES:</a:t>
            </a:r>
          </a:p>
          <a:p>
            <a:r>
              <a:t>- "It speaks 90+ languages. Real-time translation."</a:t>
            </a:r>
          </a:p>
          <a:p>
            <a:r>
              <a:t>- "It's empathetic. Trained on actual member conversations, not scripts."</a:t>
            </a:r>
          </a:p>
          <a:p>
            <a:r>
              <a:t>- "It knows CMS regulations, plan details, the terminology."</a:t>
            </a:r>
          </a:p>
          <a:p>
            <a:r>
              <a:t>- "It plugs into everything - CRM, claims, billing."</a:t>
            </a:r>
          </a:p>
          <a:p/>
          <a:p>
            <a:r>
              <a:t>POINT TO CONVERSATION:</a:t>
            </a:r>
          </a:p>
          <a:p>
            <a:r>
              <a:t>- Read both messages aloud.</a:t>
            </a:r>
          </a:p>
          <a:p>
            <a:r>
              <a:t>- "Notice the AI doesn't say 'let me transfer you.' It says 'let me help you right now.'"</a:t>
            </a:r>
          </a:p>
          <a:p>
            <a:r>
              <a:t>- "That's the difference. No hold time. No transfers. Actual help."</a:t>
            </a:r>
          </a:p>
          <a:p/>
          <a:p>
            <a:r>
              <a:t>IF YOU HAVE AN AUDIO DEMO: Play it here. Even 30 seconds of the Voice AI in action is powerful.</a:t>
            </a:r>
          </a:p>
          <a:p/>
          <a:p>
            <a:r>
              <a:t>KEY POINT: "This isn't a chatbot. It's a knowledgeable, empathetic voice that actually solves problems."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9 - BEYOND HEALTHCARE</a:t>
            </a:r>
          </a:p>
          <a:p>
            <a:r>
              <a:t>[TIMING: 1-2 minutes]</a:t>
            </a:r>
          </a:p>
          <a:p/>
          <a:p>
            <a:r>
              <a:t>SAY: "Healthcare is our focus, but the tech works everywhere."</a:t>
            </a:r>
          </a:p>
          <a:p/>
          <a:p>
            <a:r>
              <a:t>QUICKLY TOUCH EACH CARD:</a:t>
            </a:r>
          </a:p>
          <a:p>
            <a:r>
              <a:t>- "Roofing - that's where we proved it."</a:t>
            </a:r>
          </a:p>
          <a:p>
            <a:r>
              <a:t>- "Home services, insurance brokers, call centers - same pattern."</a:t>
            </a:r>
          </a:p>
          <a:p>
            <a:r>
              <a:t>- "Anywhere there's a complex product and frustrated customers, Lighthouse fits."</a:t>
            </a:r>
          </a:p>
          <a:p/>
          <a:p>
            <a:r>
              <a:t>DON'T linger here too long. This slide is about showing scale, not deep-diving every vertical.</a:t>
            </a:r>
          </a:p>
          <a:p/>
          <a:p>
            <a:r>
              <a:t>KEY POINT: "The stack is the product. The vertical is just the application."</a:t>
            </a:r>
          </a:p>
          <a:p/>
          <a:p>
            <a:r>
              <a:t>TRANSITION: "Let me show you what's under the hood..."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10 - THE n8n BUILD</a:t>
            </a:r>
          </a:p>
          <a:p>
            <a:r>
              <a:t>[TIMING: 2-3 minutes]</a:t>
            </a:r>
          </a:p>
          <a:p/>
          <a:p>
            <a:r>
              <a:t>SAY: "Here's what's actually running under the hood."</a:t>
            </a:r>
          </a:p>
          <a:p/>
          <a:p>
            <a:r>
              <a:t>WALK THROUGH THE WORKFLOW:</a:t>
            </a:r>
          </a:p>
          <a:p>
            <a:r>
              <a:t>- "Trigger fires at 6 AM every day."</a:t>
            </a:r>
          </a:p>
          <a:p>
            <a:r>
              <a:t>- "Hits Reddit, Facebook, LinkedIn APIs simultaneously."</a:t>
            </a:r>
          </a:p>
          <a:p>
            <a:r>
              <a:t>- "Everything flows into Claude for analysis - sentiment, pain points, urgency scoring."</a:t>
            </a:r>
          </a:p>
          <a:p>
            <a:r>
              <a:t>- "Data goes to Google Sheets and CRM."</a:t>
            </a:r>
          </a:p>
          <a:p>
            <a:r>
              <a:t>- "Router splits by priority: high gets a call, medium gets a text, lower gets an email."</a:t>
            </a:r>
          </a:p>
          <a:p/>
          <a:p>
            <a:r>
              <a:t>POINT TO CALLOUTS:</a:t>
            </a:r>
          </a:p>
          <a:p>
            <a:r>
              <a:t>- Highlight the key decision points.</a:t>
            </a:r>
          </a:p>
          <a:p/>
          <a:p>
            <a:r>
              <a:t>BOTTOM QUOTE:</a:t>
            </a:r>
          </a:p>
          <a:p>
            <a:r>
              <a:t>- "And here's the thing - with Claude Code, we can prototype a workflow like this in hours, not weeks. The speed of iteration is insane."</a:t>
            </a:r>
          </a:p>
          <a:p/>
          <a:p>
            <a:r>
              <a:t>TECH BADGES:</a:t>
            </a:r>
          </a:p>
          <a:p>
            <a:r>
              <a:t>- "Our stack: n8n for automation, Claude for AI, custom Voice AI, all hosted on Replit."</a:t>
            </a:r>
          </a:p>
          <a:p/>
          <a:p>
            <a:r>
              <a:t>CLOSING THOUGHT:</a:t>
            </a:r>
          </a:p>
          <a:p>
            <a:r>
              <a:t>- "This is a demo. But it's a working demo. And we're adding to it every day."</a:t>
            </a:r>
          </a:p>
          <a:p/>
          <a:p>
            <a:r>
              <a:t>TRANSITION: "So... that's what we've been building. Questions?"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50B18"/>
            </a:gs>
            <a:gs pos="100000">
              <a:srgbClr val="0A16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27801" y="933912"/>
            <a:ext cx="16639" cy="16639"/>
          </a:xfrm>
          <a:prstGeom prst="ellipse">
            <a:avLst/>
          </a:prstGeom>
          <a:solidFill>
            <a:srgbClr val="06B6D4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41057" y="6177968"/>
            <a:ext cx="21717" cy="21717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78673" y="266612"/>
            <a:ext cx="16952" cy="16952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78454" y="5050099"/>
            <a:ext cx="16739" cy="16739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03251" y="5883140"/>
            <a:ext cx="50713" cy="50713"/>
          </a:xfrm>
          <a:prstGeom prst="ellipse">
            <a:avLst/>
          </a:prstGeom>
          <a:solidFill>
            <a:srgbClr val="06B6D4">
              <a:alpha val="2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86237" y="2333632"/>
            <a:ext cx="15425" cy="15425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08456" y="2330953"/>
            <a:ext cx="25189" cy="2518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47119" y="857401"/>
            <a:ext cx="21078" cy="21078"/>
          </a:xfrm>
          <a:prstGeom prst="ellipse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70619" y="5064421"/>
            <a:ext cx="32335" cy="32335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96414" y="1047117"/>
            <a:ext cx="39807" cy="39807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46825" y="5188519"/>
            <a:ext cx="38700" cy="3870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805" y="5547078"/>
            <a:ext cx="29935" cy="2993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05582" y="847261"/>
            <a:ext cx="39911" cy="39911"/>
          </a:xfrm>
          <a:prstGeom prst="ellipse">
            <a:avLst/>
          </a:prstGeom>
          <a:solidFill>
            <a:srgbClr val="06B6D4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0868" y="1364441"/>
            <a:ext cx="39260" cy="39260"/>
          </a:xfrm>
          <a:prstGeom prst="ellipse">
            <a:avLst/>
          </a:prstGeom>
          <a:solidFill>
            <a:srgbClr val="06B6D4">
              <a:alpha val="1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79144" y="5887295"/>
            <a:ext cx="19679" cy="19679"/>
          </a:xfrm>
          <a:prstGeom prst="ellipse">
            <a:avLst/>
          </a:prstGeom>
          <a:solidFill>
            <a:srgbClr val="06B6D4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07245" y="1370719"/>
            <a:ext cx="45294" cy="45294"/>
          </a:xfrm>
          <a:prstGeom prst="ellipse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37414" y="5772720"/>
            <a:ext cx="51500" cy="515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8483" y="1921394"/>
            <a:ext cx="17103" cy="17103"/>
          </a:xfrm>
          <a:prstGeom prst="ellipse">
            <a:avLst/>
          </a:prstGeom>
          <a:solidFill>
            <a:srgbClr val="06B6D4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0460" y="1769852"/>
            <a:ext cx="52170" cy="52170"/>
          </a:xfrm>
          <a:prstGeom prst="ellipse">
            <a:avLst/>
          </a:prstGeom>
          <a:solidFill>
            <a:srgbClr val="06B6D4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75710" y="3318800"/>
            <a:ext cx="45071" cy="45071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37722" y="6249420"/>
            <a:ext cx="51789" cy="51789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07725" y="3593963"/>
            <a:ext cx="53242" cy="53242"/>
          </a:xfrm>
          <a:prstGeom prst="ellipse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0821" y="4274216"/>
            <a:ext cx="47343" cy="47343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39607" y="1282125"/>
            <a:ext cx="25484" cy="25484"/>
          </a:xfrm>
          <a:prstGeom prst="ellipse">
            <a:avLst/>
          </a:prstGeom>
          <a:solidFill>
            <a:srgbClr val="06B6D4">
              <a:alpha val="2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5324" y="3201254"/>
            <a:ext cx="54052" cy="54052"/>
          </a:xfrm>
          <a:prstGeom prst="ellipse">
            <a:avLst/>
          </a:prstGeom>
          <a:solidFill>
            <a:srgbClr val="06B6D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81590" y="96309"/>
            <a:ext cx="22507" cy="22507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53554" y="2853598"/>
            <a:ext cx="22310" cy="22310"/>
          </a:xfrm>
          <a:prstGeom prst="ellipse">
            <a:avLst/>
          </a:prstGeom>
          <a:solidFill>
            <a:srgbClr val="06B6D4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12220" y="27223"/>
            <a:ext cx="32261" cy="32261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17485" y="892638"/>
            <a:ext cx="34558" cy="34558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64217" y="3136616"/>
            <a:ext cx="25587" cy="25587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97858" y="4797"/>
            <a:ext cx="54252" cy="54252"/>
          </a:xfrm>
          <a:prstGeom prst="ellipse">
            <a:avLst/>
          </a:prstGeom>
          <a:solidFill>
            <a:srgbClr val="06B6D4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76828" y="3044903"/>
            <a:ext cx="35153" cy="35153"/>
          </a:xfrm>
          <a:prstGeom prst="ellipse">
            <a:avLst/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18669" y="660662"/>
            <a:ext cx="20613" cy="20613"/>
          </a:xfrm>
          <a:prstGeom prst="ellipse">
            <a:avLst/>
          </a:prstGeom>
          <a:solidFill>
            <a:srgbClr val="FFFFFF">
              <a:alpha val="2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37326" y="6424284"/>
            <a:ext cx="23241" cy="23241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24173" y="1385185"/>
            <a:ext cx="32370" cy="3237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99076" y="1776692"/>
            <a:ext cx="50343" cy="50343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93979" y="5634518"/>
            <a:ext cx="39472" cy="3947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74680" y="1015056"/>
            <a:ext cx="31246" cy="31246"/>
          </a:xfrm>
          <a:prstGeom prst="ellipse">
            <a:avLst/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2896" y="4935091"/>
            <a:ext cx="51301" cy="51301"/>
          </a:xfrm>
          <a:prstGeom prst="ellipse">
            <a:avLst/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0642" y="595533"/>
            <a:ext cx="18858" cy="18858"/>
          </a:xfrm>
          <a:prstGeom prst="ellipse">
            <a:avLst/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1645920"/>
            <a:ext cx="3931920" cy="25400"/>
          </a:xfrm>
          <a:prstGeom prst="rect">
            <a:avLst/>
          </a:prstGeom>
          <a:solidFill>
            <a:srgbClr val="06B6D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What We've Been Building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31089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0">
                <a:solidFill>
                  <a:srgbClr val="06B6D4"/>
                </a:solidFill>
                <a:latin typeface="Inter"/>
              </a:defRPr>
              <a:lnSpc>
                <a:spcPct val="120000"/>
              </a:lnSpc>
            </a:pPr>
            <a:r>
              <a:t>Summit Voice AI  ×  Lighthouse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41148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Dan Gill  &amp;  David Newsom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663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February 13,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5212080"/>
            <a:ext cx="3931920" cy="25400"/>
          </a:xfrm>
          <a:prstGeom prst="rect">
            <a:avLst/>
          </a:prstGeom>
          <a:solidFill>
            <a:srgbClr val="06B6D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5943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4155"/>
                </a:solidFill>
                <a:latin typeface="Inter"/>
              </a:defRPr>
              <a:lnSpc>
                <a:spcPct val="120000"/>
              </a:lnSpc>
            </a:pPr>
            <a:r>
              <a:t>LIGHTHOUSE</a:t>
            </a:r>
          </a:p>
        </p:txBody>
      </p:sp>
      <p:sp>
        <p:nvSpPr>
          <p:cNvPr id="49" name="Oval 48"/>
          <p:cNvSpPr/>
          <p:nvPr/>
        </p:nvSpPr>
        <p:spPr>
          <a:xfrm>
            <a:off x="4815687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07171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2775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58378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3981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9584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5187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60791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86394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11997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50B18"/>
            </a:gs>
            <a:gs pos="100000">
              <a:srgbClr val="0A16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27801" y="933912"/>
            <a:ext cx="16639" cy="16639"/>
          </a:xfrm>
          <a:prstGeom prst="ellipse">
            <a:avLst/>
          </a:prstGeom>
          <a:solidFill>
            <a:srgbClr val="06B6D4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41057" y="6177968"/>
            <a:ext cx="21717" cy="21717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78673" y="266612"/>
            <a:ext cx="16952" cy="16952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78454" y="5050099"/>
            <a:ext cx="16739" cy="16739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03251" y="5883140"/>
            <a:ext cx="50713" cy="50713"/>
          </a:xfrm>
          <a:prstGeom prst="ellipse">
            <a:avLst/>
          </a:prstGeom>
          <a:solidFill>
            <a:srgbClr val="06B6D4">
              <a:alpha val="2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86237" y="2333632"/>
            <a:ext cx="15425" cy="15425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08456" y="2330953"/>
            <a:ext cx="25189" cy="2518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47119" y="857401"/>
            <a:ext cx="21078" cy="21078"/>
          </a:xfrm>
          <a:prstGeom prst="ellipse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70619" y="5064421"/>
            <a:ext cx="32335" cy="32335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96414" y="1047117"/>
            <a:ext cx="39807" cy="39807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46825" y="5188519"/>
            <a:ext cx="38700" cy="3870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805" y="5547078"/>
            <a:ext cx="29935" cy="2993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05582" y="847261"/>
            <a:ext cx="39911" cy="39911"/>
          </a:xfrm>
          <a:prstGeom prst="ellipse">
            <a:avLst/>
          </a:prstGeom>
          <a:solidFill>
            <a:srgbClr val="06B6D4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0868" y="1364441"/>
            <a:ext cx="39260" cy="39260"/>
          </a:xfrm>
          <a:prstGeom prst="ellipse">
            <a:avLst/>
          </a:prstGeom>
          <a:solidFill>
            <a:srgbClr val="06B6D4">
              <a:alpha val="1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79144" y="5887295"/>
            <a:ext cx="19679" cy="19679"/>
          </a:xfrm>
          <a:prstGeom prst="ellipse">
            <a:avLst/>
          </a:prstGeom>
          <a:solidFill>
            <a:srgbClr val="06B6D4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The Real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How we got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2" y="1554480"/>
            <a:ext cx="25400" cy="42976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63040" y="1554480"/>
            <a:ext cx="347472" cy="347472"/>
          </a:xfrm>
          <a:prstGeom prst="ellipse">
            <a:avLst/>
          </a:prstGeom>
          <a:solidFill>
            <a:srgbClr val="162A50"/>
          </a:solidFill>
          <a:ln w="25400">
            <a:solidFill>
              <a:srgbClr val="06B6D4"/>
            </a:solidFill>
          </a:ln>
          <a:effectLst>
            <a:glow rad="76200">
              <a:srgbClr val="06B6D4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1572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B6D4"/>
                </a:solidFill>
                <a:latin typeface="Inter"/>
              </a:defRPr>
              <a:lnSpc>
                <a:spcPct val="120000"/>
              </a:lnSpc>
            </a:pPr>
            <a: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15361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Started Summit Marketing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17922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Agency roots, learned the game</a:t>
            </a:r>
          </a:p>
        </p:txBody>
      </p:sp>
      <p:sp>
        <p:nvSpPr>
          <p:cNvPr id="24" name="Oval 23"/>
          <p:cNvSpPr/>
          <p:nvPr/>
        </p:nvSpPr>
        <p:spPr>
          <a:xfrm>
            <a:off x="1463040" y="2359152"/>
            <a:ext cx="347472" cy="347472"/>
          </a:xfrm>
          <a:prstGeom prst="ellipse">
            <a:avLst/>
          </a:prstGeom>
          <a:solidFill>
            <a:srgbClr val="162A50"/>
          </a:solidFill>
          <a:ln w="25400">
            <a:solidFill>
              <a:srgbClr val="06B6D4"/>
            </a:solidFill>
          </a:ln>
          <a:effectLst>
            <a:glow rad="76200">
              <a:srgbClr val="06B6D4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B6D4"/>
                </a:solidFill>
                <a:latin typeface="Inter"/>
              </a:defRPr>
              <a:lnSpc>
                <a:spcPct val="120000"/>
              </a:lnSpc>
            </a:pPr>
            <a:r>
              <a:t>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234086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Built first Voice AI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259689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The hard way — trial by fire</a:t>
            </a:r>
          </a:p>
        </p:txBody>
      </p:sp>
      <p:sp>
        <p:nvSpPr>
          <p:cNvPr id="28" name="Oval 27"/>
          <p:cNvSpPr/>
          <p:nvPr/>
        </p:nvSpPr>
        <p:spPr>
          <a:xfrm>
            <a:off x="1463040" y="3163824"/>
            <a:ext cx="347472" cy="347472"/>
          </a:xfrm>
          <a:prstGeom prst="ellipse">
            <a:avLst/>
          </a:prstGeom>
          <a:solidFill>
            <a:srgbClr val="162A50"/>
          </a:solidFill>
          <a:ln w="25400">
            <a:solidFill>
              <a:srgbClr val="22D3EE"/>
            </a:solidFill>
          </a:ln>
          <a:effectLst>
            <a:glow rad="76200">
              <a:srgbClr val="22D3EE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D3EE"/>
                </a:solidFill>
                <a:latin typeface="Inter"/>
              </a:defRPr>
              <a:lnSpc>
                <a:spcPct val="120000"/>
              </a:lnSpc>
            </a:pPr>
            <a:r>
              <a:t>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1455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Pitched Aetna on Voice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40156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Healthcare was always the vision</a:t>
            </a:r>
          </a:p>
        </p:txBody>
      </p:sp>
      <p:sp>
        <p:nvSpPr>
          <p:cNvPr id="32" name="Oval 31"/>
          <p:cNvSpPr/>
          <p:nvPr/>
        </p:nvSpPr>
        <p:spPr>
          <a:xfrm>
            <a:off x="1463040" y="3968496"/>
            <a:ext cx="347472" cy="347472"/>
          </a:xfrm>
          <a:prstGeom prst="ellipse">
            <a:avLst/>
          </a:prstGeom>
          <a:solidFill>
            <a:srgbClr val="162A50"/>
          </a:solidFill>
          <a:ln w="25400">
            <a:solidFill>
              <a:srgbClr val="FF6B35"/>
            </a:solidFill>
          </a:ln>
          <a:effectLst>
            <a:glow rad="76200">
              <a:srgbClr val="FF6B35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39867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Inter"/>
              </a:defRPr>
              <a:lnSpc>
                <a:spcPct val="120000"/>
              </a:lnSpc>
            </a:pPr>
            <a: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9502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Roofing opportunity → QualifyOS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42062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Proved the tech in the real world</a:t>
            </a:r>
          </a:p>
        </p:txBody>
      </p:sp>
      <p:sp>
        <p:nvSpPr>
          <p:cNvPr id="36" name="Oval 35"/>
          <p:cNvSpPr/>
          <p:nvPr/>
        </p:nvSpPr>
        <p:spPr>
          <a:xfrm>
            <a:off x="1463040" y="4773168"/>
            <a:ext cx="347472" cy="347472"/>
          </a:xfrm>
          <a:prstGeom prst="ellipse">
            <a:avLst/>
          </a:prstGeom>
          <a:solidFill>
            <a:srgbClr val="162A50"/>
          </a:solidFill>
          <a:ln w="25400">
            <a:solidFill>
              <a:srgbClr val="FF6B35"/>
            </a:solidFill>
          </a:ln>
          <a:effectLst>
            <a:glow rad="76200">
              <a:srgbClr val="FF6B35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47914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Inter"/>
              </a:defRPr>
              <a:lnSpc>
                <a:spcPct val="120000"/>
              </a:lnSpc>
            </a:pPr>
            <a:r>
              <a:t>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4754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Connected with David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0109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M/W/F 9:30 PM grind sessions</a:t>
            </a:r>
          </a:p>
        </p:txBody>
      </p:sp>
      <p:sp>
        <p:nvSpPr>
          <p:cNvPr id="40" name="Oval 39"/>
          <p:cNvSpPr/>
          <p:nvPr/>
        </p:nvSpPr>
        <p:spPr>
          <a:xfrm>
            <a:off x="1463040" y="5577840"/>
            <a:ext cx="347472" cy="347472"/>
          </a:xfrm>
          <a:prstGeom prst="ellipse">
            <a:avLst/>
          </a:prstGeom>
          <a:solidFill>
            <a:srgbClr val="162A50"/>
          </a:solidFill>
          <a:ln w="25400">
            <a:solidFill>
              <a:srgbClr val="FF6B35"/>
            </a:solidFill>
          </a:ln>
          <a:effectLst>
            <a:glow rad="76200">
              <a:srgbClr val="FF6B35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" y="5596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Inter"/>
              </a:defRPr>
              <a:lnSpc>
                <a:spcPct val="120000"/>
              </a:lnSpc>
            </a:pPr>
            <a:r>
              <a:t>Now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5595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Building Lighthouse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81558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What insurance should've been all along</a:t>
            </a:r>
          </a:p>
        </p:txBody>
      </p:sp>
      <p:sp>
        <p:nvSpPr>
          <p:cNvPr id="44" name="Oval 43"/>
          <p:cNvSpPr/>
          <p:nvPr/>
        </p:nvSpPr>
        <p:spPr>
          <a:xfrm>
            <a:off x="7772400" y="1371600"/>
            <a:ext cx="4114800" cy="4114800"/>
          </a:xfrm>
          <a:prstGeom prst="ellipse">
            <a:avLst/>
          </a:prstGeom>
          <a:solidFill>
            <a:srgbClr val="0A1628">
              <a:alpha val="8000"/>
            </a:srgbClr>
          </a:solidFill>
          <a:ln w="12700">
            <a:solidFill>
              <a:srgbClr val="06B6D4"/>
            </a:solidFill>
          </a:ln>
          <a:effectLst>
            <a:glow rad="254000">
              <a:srgbClr val="06B6D4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27432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4748B"/>
                </a:solidFill>
                <a:latin typeface="Inter"/>
              </a:defRPr>
              <a:lnSpc>
                <a:spcPct val="150000"/>
              </a:lnSpc>
            </a:pPr>
            <a:r>
              <a:t>From agency hustle</a:t>
            </a:r>
            <a:br/>
            <a:r>
              <a:t>to AI infrastructure</a:t>
            </a:r>
            <a:br/>
            <a:r>
              <a:t>for healthcare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4572000"/>
            <a:ext cx="2560320" cy="45720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Inter"/>
              </a:defRPr>
            </a:pPr>
            <a:r>
              <a:t>5 years in the making</a:t>
            </a:r>
          </a:p>
        </p:txBody>
      </p:sp>
      <p:sp>
        <p:nvSpPr>
          <p:cNvPr id="47" name="Oval 46"/>
          <p:cNvSpPr/>
          <p:nvPr/>
        </p:nvSpPr>
        <p:spPr>
          <a:xfrm>
            <a:off x="481568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071719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2775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8378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3981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09584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5187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60791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86394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1997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1551615" y="137160"/>
            <a:ext cx="457200" cy="320040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94A3B8"/>
                </a:solidFill>
                <a:latin typeface="Inter"/>
              </a:rPr>
              <a:t>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50B18"/>
            </a:gs>
            <a:gs pos="100000">
              <a:srgbClr val="0A16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27801" y="933912"/>
            <a:ext cx="16639" cy="16639"/>
          </a:xfrm>
          <a:prstGeom prst="ellipse">
            <a:avLst/>
          </a:prstGeom>
          <a:solidFill>
            <a:srgbClr val="06B6D4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41057" y="6177968"/>
            <a:ext cx="21717" cy="21717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78673" y="266612"/>
            <a:ext cx="16952" cy="16952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78454" y="5050099"/>
            <a:ext cx="16739" cy="16739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03251" y="5883140"/>
            <a:ext cx="50713" cy="50713"/>
          </a:xfrm>
          <a:prstGeom prst="ellipse">
            <a:avLst/>
          </a:prstGeom>
          <a:solidFill>
            <a:srgbClr val="06B6D4">
              <a:alpha val="2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86237" y="2333632"/>
            <a:ext cx="15425" cy="15425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08456" y="2330953"/>
            <a:ext cx="25189" cy="2518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47119" y="857401"/>
            <a:ext cx="21078" cy="21078"/>
          </a:xfrm>
          <a:prstGeom prst="ellipse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70619" y="5064421"/>
            <a:ext cx="32335" cy="32335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96414" y="1047117"/>
            <a:ext cx="39807" cy="39807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Where We Started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77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6B35"/>
                </a:solidFill>
                <a:latin typeface="Inter"/>
              </a:defRPr>
              <a:lnSpc>
                <a:spcPct val="120000"/>
              </a:lnSpc>
            </a:pPr>
            <a:r>
              <a:t>Why roofing first?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3810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Biggest ROI in home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Every storm = massive demand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3810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Clear pain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88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Missed calls = lost revenue, period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3810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24/7 Voice AI receptionist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49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Never miss another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34840"/>
            <a:ext cx="3810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Backend automation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From lead to close, fully automated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This proved the tech stack works.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731520"/>
            <a:ext cx="6400800" cy="5486400"/>
          </a:xfrm>
          <a:prstGeom prst="roundRect">
            <a:avLst/>
          </a:prstGeom>
          <a:solidFill>
            <a:srgbClr val="10203C">
              <a:alpha val="6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BEFORE → 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BD5E1"/>
                </a:solidFill>
                <a:latin typeface="Inter"/>
              </a:defRPr>
              <a:lnSpc>
                <a:spcPct val="120000"/>
              </a:lnSpc>
            </a:pPr>
            <a:r>
              <a:t>Missed Calls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2011680"/>
            <a:ext cx="2103120" cy="73152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Inter"/>
              </a:defRPr>
            </a:pPr>
            <a:r>
              <a:t>BEFORE</a:t>
            </a:r>
          </a:p>
          <a:p>
            <a:pPr algn="ctr">
              <a:spcAft>
                <a:spcPts val="200"/>
              </a:spcAft>
              <a:defRPr sz="2800" b="1">
                <a:solidFill>
                  <a:srgbClr val="EF4444"/>
                </a:solidFill>
                <a:latin typeface="Inter"/>
              </a:defRPr>
            </a:pPr>
            <a:r>
              <a:t>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2011680"/>
            <a:ext cx="2103120" cy="73152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10B981"/>
            </a:solidFill>
          </a:ln>
          <a:effectLst>
            <a:glow rad="76200">
              <a:srgbClr val="10B981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Inter"/>
              </a:defRPr>
            </a:pPr>
            <a:r>
              <a:t>AFTER</a:t>
            </a:r>
          </a:p>
          <a:p>
            <a:pPr algn="ctr">
              <a:spcAft>
                <a:spcPts val="200"/>
              </a:spcAft>
              <a:defRPr sz="2800" b="1">
                <a:solidFill>
                  <a:srgbClr val="10B981"/>
                </a:solidFill>
                <a:latin typeface="Inter"/>
              </a:defRPr>
            </a:pPr>
            <a:r>
              <a:t>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017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BD5E1"/>
                </a:solidFill>
                <a:latin typeface="Inter"/>
              </a:defRPr>
              <a:lnSpc>
                <a:spcPct val="120000"/>
              </a:lnSpc>
            </a:pPr>
            <a:r>
              <a:t>Response 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3383280"/>
            <a:ext cx="2103120" cy="73152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Inter"/>
              </a:defRPr>
            </a:pPr>
            <a:r>
              <a:t>BEFORE</a:t>
            </a:r>
          </a:p>
          <a:p>
            <a:pPr algn="ctr">
              <a:spcAft>
                <a:spcPts val="200"/>
              </a:spcAft>
              <a:defRPr sz="2800" b="1">
                <a:solidFill>
                  <a:srgbClr val="F59E0B"/>
                </a:solidFill>
                <a:latin typeface="Inter"/>
              </a:defRPr>
            </a:pPr>
            <a:r>
              <a:t>4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3383280"/>
            <a:ext cx="2103120" cy="73152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10B981"/>
            </a:solidFill>
          </a:ln>
          <a:effectLst>
            <a:glow rad="76200">
              <a:srgbClr val="10B981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Inter"/>
              </a:defRPr>
            </a:pPr>
            <a:r>
              <a:t>AFTER</a:t>
            </a:r>
          </a:p>
          <a:p>
            <a:pPr algn="ctr">
              <a:spcAft>
                <a:spcPts val="200"/>
              </a:spcAft>
              <a:defRPr sz="2800" b="1">
                <a:solidFill>
                  <a:srgbClr val="10B981"/>
                </a:solidFill>
                <a:latin typeface="Inter"/>
              </a:defRPr>
            </a:pPr>
            <a:r>
              <a:t>Instant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389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BD5E1"/>
                </a:solidFill>
                <a:latin typeface="Inter"/>
              </a:defRPr>
              <a:lnSpc>
                <a:spcPct val="120000"/>
              </a:lnSpc>
            </a:pPr>
            <a:r>
              <a:t>Conversion Rate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754880"/>
            <a:ext cx="2103120" cy="73152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Inter"/>
              </a:defRPr>
            </a:pPr>
            <a:r>
              <a:t>BEFORE</a:t>
            </a:r>
          </a:p>
          <a:p>
            <a:pPr algn="ctr">
              <a:spcAft>
                <a:spcPts val="200"/>
              </a:spcAft>
              <a:defRPr sz="2800" b="1">
                <a:solidFill>
                  <a:srgbClr val="F59E0B"/>
                </a:solidFill>
                <a:latin typeface="Inter"/>
              </a:defRPr>
            </a:pPr>
            <a:r>
              <a:t>12%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846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4754880"/>
            <a:ext cx="2103120" cy="73152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10B981"/>
            </a:solidFill>
          </a:ln>
          <a:effectLst>
            <a:glow rad="76200">
              <a:srgbClr val="10B981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Inter"/>
              </a:defRPr>
            </a:pPr>
            <a:r>
              <a:t>AFTER</a:t>
            </a:r>
          </a:p>
          <a:p>
            <a:pPr algn="ctr">
              <a:spcAft>
                <a:spcPts val="200"/>
              </a:spcAft>
              <a:defRPr sz="2800" b="1">
                <a:solidFill>
                  <a:srgbClr val="10B981"/>
                </a:solidFill>
                <a:latin typeface="Inter"/>
              </a:defRPr>
            </a:pPr>
            <a:r>
              <a:t>34%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0" y="5486400"/>
            <a:ext cx="2926080" cy="41148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6B35"/>
                </a:solidFill>
                <a:latin typeface="Inter"/>
              </a:defRPr>
            </a:pPr>
            <a:r>
              <a:t>Powered by QualifyOS</a:t>
            </a:r>
          </a:p>
        </p:txBody>
      </p:sp>
      <p:sp>
        <p:nvSpPr>
          <p:cNvPr id="42" name="Oval 41"/>
          <p:cNvSpPr/>
          <p:nvPr/>
        </p:nvSpPr>
        <p:spPr>
          <a:xfrm>
            <a:off x="481568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7171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27751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8378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3981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9584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5187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0791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86394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11997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551615" y="137160"/>
            <a:ext cx="457200" cy="320040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94A3B8"/>
                </a:solidFill>
                <a:latin typeface="Inter"/>
              </a:rPr>
              <a:t>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50B18"/>
            </a:gs>
            <a:gs pos="100000">
              <a:srgbClr val="0A16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What We Saw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Real problems. Real people. Nobody listening.</a:t>
            </a:r>
          </a:p>
        </p:txBody>
      </p:sp>
      <p:sp>
        <p:nvSpPr>
          <p:cNvPr id="4" name="Oval 3"/>
          <p:cNvSpPr/>
          <p:nvPr/>
        </p:nvSpPr>
        <p:spPr>
          <a:xfrm>
            <a:off x="5029200" y="2926080"/>
            <a:ext cx="1371600" cy="1371600"/>
          </a:xfrm>
          <a:prstGeom prst="ellipse">
            <a:avLst/>
          </a:prstGeom>
          <a:solidFill>
            <a:srgbClr val="162A50"/>
          </a:solidFill>
          <a:ln w="25400">
            <a:solidFill>
              <a:srgbClr val="FF6B35"/>
            </a:solidFill>
          </a:ln>
          <a:effectLst>
            <a:glow rad="152400">
              <a:srgbClr val="FF6B35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😤</a:t>
            </a:r>
            <a:br/>
            <a:r>
              <a:t>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926080" cy="105156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⏱️  45+ min wait times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Average hold time for</a:t>
            </a:r>
            <a:br/>
            <a:r>
              <a:t>member support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2926080" cy="105156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💰  $50M+ annual costs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Contact center spend</a:t>
            </a:r>
            <a:br/>
            <a:r>
              <a:t>for large insurers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389120"/>
            <a:ext cx="2926080" cy="105156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📱  Reddit &amp; Facebook</a:t>
            </a:r>
            <a:br/>
            <a:r>
              <a:t>      complaints piling up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Members venting online</a:t>
            </a:r>
            <a:br/>
            <a:r>
              <a:t>because no one listens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4389120"/>
            <a:ext cx="2926080" cy="105156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🔄  IVR mazes</a:t>
            </a:r>
            <a:br/>
            <a:r>
              <a:t>      making it worse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Press 1, press 2, press</a:t>
            </a:r>
            <a:br/>
            <a:r>
              <a:t>hang up in frustration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760720"/>
            <a:ext cx="5760720" cy="54864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06B6D4"/>
            </a:solidFill>
          </a:ln>
          <a:effectLst>
            <a:glow rad="101600">
              <a:srgbClr val="06B6D4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  <a:latin typeface="Inter"/>
              </a:defRPr>
            </a:pPr>
            <a:r>
              <a:t>What if someone actually listened?</a:t>
            </a:r>
          </a:p>
        </p:txBody>
      </p:sp>
      <p:sp>
        <p:nvSpPr>
          <p:cNvPr id="10" name="Oval 9"/>
          <p:cNvSpPr/>
          <p:nvPr/>
        </p:nvSpPr>
        <p:spPr>
          <a:xfrm>
            <a:off x="481568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7171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2775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83783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981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9584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187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0791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6394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1997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551615" y="137160"/>
            <a:ext cx="457200" cy="320040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94A3B8"/>
                </a:solidFill>
                <a:latin typeface="Inter"/>
              </a:rPr>
              <a:t>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50B18"/>
            </a:gs>
            <a:gs pos="100000">
              <a:srgbClr val="0A16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The Idea: Find Them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Don't wait for members to call. Find them where they're already struggling.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194560" cy="1463040"/>
          </a:xfrm>
          <a:prstGeom prst="roundRect">
            <a:avLst/>
          </a:prstGeom>
          <a:solidFill>
            <a:srgbClr val="10203C"/>
          </a:solidFill>
          <a:ln w="25400">
            <a:solidFill>
              <a:srgbClr val="06B6D4"/>
            </a:solidFill>
          </a:ln>
          <a:effectLst>
            <a:glow rad="101600">
              <a:srgbClr val="06B6D4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400"/>
              </a:spcAft>
              <a:defRPr sz="2800"/>
            </a:pPr>
            <a:r>
              <a:t>🔍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06B6D4"/>
                </a:solidFill>
                <a:latin typeface="Inter"/>
              </a:defRPr>
            </a:pPr>
            <a:r>
              <a:t>Discovery</a:t>
            </a:r>
          </a:p>
          <a:p>
            <a:pPr algn="ctr">
              <a:defRPr sz="1200">
                <a:solidFill>
                  <a:srgbClr val="94A3B8"/>
                </a:solidFill>
                <a:latin typeface="Inter"/>
              </a:defRPr>
            </a:pPr>
            <a:r>
              <a:t>Find struggling</a:t>
            </a:r>
            <a:br/>
            <a:r>
              <a:t>members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828800"/>
            <a:ext cx="2194560" cy="1463040"/>
          </a:xfrm>
          <a:prstGeom prst="roundRect">
            <a:avLst/>
          </a:prstGeom>
          <a:solidFill>
            <a:srgbClr val="10203C"/>
          </a:solidFill>
          <a:ln w="25400">
            <a:solidFill>
              <a:srgbClr val="8B5CF6"/>
            </a:solidFill>
          </a:ln>
          <a:effectLst>
            <a:glow rad="101600">
              <a:srgbClr val="8B5CF6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400"/>
              </a:spcAft>
              <a:defRPr sz="2800"/>
            </a:pPr>
            <a:r>
              <a:t>🧠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8B5CF6"/>
                </a:solidFill>
                <a:latin typeface="Inter"/>
              </a:defRPr>
            </a:pPr>
            <a:r>
              <a:t>Intelligence</a:t>
            </a:r>
          </a:p>
          <a:p>
            <a:pPr algn="ctr">
              <a:defRPr sz="1200">
                <a:solidFill>
                  <a:srgbClr val="94A3B8"/>
                </a:solidFill>
                <a:latin typeface="Inter"/>
              </a:defRPr>
            </a:pPr>
            <a:r>
              <a:t>Analyze &amp; enrich</a:t>
            </a:r>
            <a:br/>
            <a:r>
              <a:t>contact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2194560" cy="1463040"/>
          </a:xfrm>
          <a:prstGeom prst="roundRect">
            <a:avLst/>
          </a:prstGeom>
          <a:solidFill>
            <a:srgbClr val="10203C"/>
          </a:solidFill>
          <a:ln w="25400">
            <a:solidFill>
              <a:srgbClr val="FF6B35"/>
            </a:solidFill>
          </a:ln>
          <a:effectLst>
            <a:glow rad="101600">
              <a:srgbClr val="FF6B35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400"/>
              </a:spcAft>
              <a:defRPr sz="2800"/>
            </a:pPr>
            <a:r>
              <a:t>⚡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FF6B35"/>
                </a:solidFill>
                <a:latin typeface="Inter"/>
              </a:defRPr>
            </a:pPr>
            <a:r>
              <a:t>Response</a:t>
            </a:r>
          </a:p>
          <a:p>
            <a:pPr algn="ctr">
              <a:defRPr sz="1200">
                <a:solidFill>
                  <a:srgbClr val="94A3B8"/>
                </a:solidFill>
                <a:latin typeface="Inter"/>
              </a:defRPr>
            </a:pPr>
            <a:r>
              <a:t>Reach out via</a:t>
            </a:r>
            <a:br/>
            <a:r>
              <a:t>right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828800"/>
            <a:ext cx="2194560" cy="1463040"/>
          </a:xfrm>
          <a:prstGeom prst="roundRect">
            <a:avLst/>
          </a:prstGeom>
          <a:solidFill>
            <a:srgbClr val="10203C"/>
          </a:solidFill>
          <a:ln w="25400">
            <a:solidFill>
              <a:srgbClr val="10B981"/>
            </a:solidFill>
          </a:ln>
          <a:effectLst>
            <a:glow rad="101600">
              <a:srgbClr val="10B981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400"/>
              </a:spcAft>
              <a:defRPr sz="2800"/>
            </a:pPr>
            <a:r>
              <a:t>✅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10B981"/>
                </a:solidFill>
                <a:latin typeface="Inter"/>
              </a:defRPr>
            </a:pPr>
            <a:r>
              <a:t>Resolution</a:t>
            </a:r>
          </a:p>
          <a:p>
            <a:pPr algn="ctr">
              <a:defRPr sz="1200">
                <a:solidFill>
                  <a:srgbClr val="94A3B8"/>
                </a:solidFill>
                <a:latin typeface="Inter"/>
              </a:defRPr>
            </a:pPr>
            <a:r>
              <a:t>Solve their</a:t>
            </a:r>
            <a:br/>
            <a:r>
              <a:t>problem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30752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39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Reddit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221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r/insurance complaints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25112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33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Facebook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Medicare help groups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919472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28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Healthcare discussions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513832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22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Blogs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052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Comment sections</a:t>
            </a:r>
          </a:p>
        </p:txBody>
      </p:sp>
      <p:sp>
        <p:nvSpPr>
          <p:cNvPr id="23" name="Oval 22"/>
          <p:cNvSpPr/>
          <p:nvPr/>
        </p:nvSpPr>
        <p:spPr>
          <a:xfrm>
            <a:off x="3703320" y="3730752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3639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Extract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8221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Pain point analysis</a:t>
            </a:r>
          </a:p>
        </p:txBody>
      </p:sp>
      <p:sp>
        <p:nvSpPr>
          <p:cNvPr id="26" name="Oval 25"/>
          <p:cNvSpPr/>
          <p:nvPr/>
        </p:nvSpPr>
        <p:spPr>
          <a:xfrm>
            <a:off x="3703320" y="4325112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4233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Enrich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Contact information</a:t>
            </a:r>
          </a:p>
        </p:txBody>
      </p:sp>
      <p:sp>
        <p:nvSpPr>
          <p:cNvPr id="29" name="Oval 28"/>
          <p:cNvSpPr/>
          <p:nvPr/>
        </p:nvSpPr>
        <p:spPr>
          <a:xfrm>
            <a:off x="3703320" y="4919472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4828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Urgency level (1-10)</a:t>
            </a:r>
          </a:p>
        </p:txBody>
      </p:sp>
      <p:sp>
        <p:nvSpPr>
          <p:cNvPr id="32" name="Oval 31"/>
          <p:cNvSpPr/>
          <p:nvPr/>
        </p:nvSpPr>
        <p:spPr>
          <a:xfrm>
            <a:off x="3703320" y="5513832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5422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6052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Smart channel routing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3730752"/>
            <a:ext cx="137160" cy="137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3639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📞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8221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High priority (8-10)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4325112"/>
            <a:ext cx="137160" cy="137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233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💬 SMS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Medium priority (5-7)</a:t>
            </a:r>
          </a:p>
        </p:txBody>
      </p:sp>
      <p:sp>
        <p:nvSpPr>
          <p:cNvPr id="41" name="Oval 40"/>
          <p:cNvSpPr/>
          <p:nvPr/>
        </p:nvSpPr>
        <p:spPr>
          <a:xfrm>
            <a:off x="6537960" y="4919472"/>
            <a:ext cx="137160" cy="1371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828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📧 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Lower priority (1-4)</a:t>
            </a:r>
          </a:p>
        </p:txBody>
      </p:sp>
      <p:sp>
        <p:nvSpPr>
          <p:cNvPr id="44" name="Oval 43"/>
          <p:cNvSpPr/>
          <p:nvPr/>
        </p:nvSpPr>
        <p:spPr>
          <a:xfrm>
            <a:off x="9372600" y="3730752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3639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Dialogue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38221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Natural conversation</a:t>
            </a:r>
          </a:p>
        </p:txBody>
      </p:sp>
      <p:sp>
        <p:nvSpPr>
          <p:cNvPr id="47" name="Oval 46"/>
          <p:cNvSpPr/>
          <p:nvPr/>
        </p:nvSpPr>
        <p:spPr>
          <a:xfrm>
            <a:off x="9372600" y="4325112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4233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Options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All insurance plans</a:t>
            </a:r>
          </a:p>
        </p:txBody>
      </p:sp>
      <p:sp>
        <p:nvSpPr>
          <p:cNvPr id="50" name="Oval 49"/>
          <p:cNvSpPr/>
          <p:nvPr/>
        </p:nvSpPr>
        <p:spPr>
          <a:xfrm>
            <a:off x="9372600" y="4919472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4828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Match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Best fit selection</a:t>
            </a:r>
          </a:p>
        </p:txBody>
      </p:sp>
      <p:sp>
        <p:nvSpPr>
          <p:cNvPr id="53" name="Oval 52"/>
          <p:cNvSpPr/>
          <p:nvPr/>
        </p:nvSpPr>
        <p:spPr>
          <a:xfrm>
            <a:off x="9372600" y="5513832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0" y="5422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Connect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6052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Provider handoff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6126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Click any node above for drill-down detail  ·  All running autonomously by 6 AM every day</a:t>
            </a:r>
          </a:p>
        </p:txBody>
      </p:sp>
      <p:sp>
        <p:nvSpPr>
          <p:cNvPr id="57" name="Oval 56"/>
          <p:cNvSpPr/>
          <p:nvPr/>
        </p:nvSpPr>
        <p:spPr>
          <a:xfrm>
            <a:off x="481568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07171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32775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58378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839815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09584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35187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60791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6394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1997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1551615" y="137160"/>
            <a:ext cx="457200" cy="320040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94A3B8"/>
                </a:solidFill>
                <a:latin typeface="Inter"/>
              </a:rPr>
              <a:t>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50B18"/>
            </a:gs>
            <a:gs pos="100000">
              <a:srgbClr val="0A16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How It Actually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A day in the life of Lighthouse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00584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A1628"/>
                </a:solidFill>
                <a:latin typeface="Inter"/>
              </a:defRPr>
            </a:pPr>
            <a:r>
              <a:t>6 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1234440"/>
            <a:ext cx="5029200" cy="11887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800" b="1">
                <a:solidFill>
                  <a:srgbClr val="06B6D4"/>
                </a:solidFill>
                <a:latin typeface="Inter"/>
              </a:defRPr>
            </a:pPr>
            <a:r>
              <a:t>🔍  Discovery Phase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Reddit: insurance complaint posts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Facebook: Medicare group discussions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LinkedIn: healthcare pain threads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Blog comments: frustrated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423160"/>
            <a:ext cx="25400" cy="1097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624328"/>
            <a:ext cx="100584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A1628"/>
                </a:solidFill>
                <a:latin typeface="Inter"/>
              </a:defRPr>
            </a:pPr>
            <a:r>
              <a:t>7 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2532888"/>
            <a:ext cx="5029200" cy="11887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800" b="1">
                <a:solidFill>
                  <a:srgbClr val="8B5CF6"/>
                </a:solidFill>
                <a:latin typeface="Inter"/>
              </a:defRPr>
            </a:pPr>
            <a:r>
              <a:t>🧠  Intelligence Phase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Extract core struggles &amp; sentiment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Find + verify contact information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Score urgency: 🟢 Low  🟡 Med  🔴 High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Route to optimal response 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721608"/>
            <a:ext cx="25400" cy="1097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922776"/>
            <a:ext cx="1005840" cy="411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A1628"/>
                </a:solidFill>
                <a:latin typeface="Inter"/>
              </a:defRPr>
            </a:pPr>
            <a:r>
              <a:t>8 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3831336"/>
            <a:ext cx="5029200" cy="11887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800" b="1">
                <a:solidFill>
                  <a:srgbClr val="FF6B35"/>
                </a:solidFill>
                <a:latin typeface="Inter"/>
              </a:defRPr>
            </a:pPr>
            <a:r>
              <a:t>⚡  Response Phase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🔴 High priority → Voice AI call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🟡 Medium → Personalized SMS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🟢 Lower → Email with resources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5020056"/>
            <a:ext cx="25400" cy="1097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5221224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A1628"/>
                </a:solidFill>
                <a:latin typeface="Inter"/>
              </a:defRPr>
            </a:pPr>
            <a:r>
              <a:t>All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5129784"/>
            <a:ext cx="5029200" cy="11887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800" b="1">
                <a:solidFill>
                  <a:srgbClr val="10B981"/>
                </a:solidFill>
                <a:latin typeface="Inter"/>
              </a:defRPr>
            </a:pPr>
            <a:r>
              <a:t>✅  Resolution Phase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Natural Voice AI conversation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Access to ALL insurance options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Best-fit matching &amp; recommendation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    Provider connection + follow-up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234440"/>
            <a:ext cx="4846320" cy="5074920"/>
          </a:xfrm>
          <a:prstGeom prst="roundRect">
            <a:avLst/>
          </a:prstGeom>
          <a:solidFill>
            <a:srgbClr val="10203C">
              <a:alpha val="50000"/>
            </a:srgbClr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371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DAILY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920240"/>
            <a:ext cx="4297680" cy="82296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0"/>
              </a:spcAft>
              <a:defRPr sz="3000" b="1">
                <a:solidFill>
                  <a:srgbClr val="06B6D4"/>
                </a:solidFill>
                <a:latin typeface="Inter"/>
              </a:defRPr>
            </a:pPr>
            <a:r>
              <a:t>47</a:t>
            </a:r>
          </a:p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Discoveries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971800"/>
            <a:ext cx="4297680" cy="82296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0"/>
              </a:spcAft>
              <a:defRPr sz="3000" b="1">
                <a:solidFill>
                  <a:srgbClr val="10B981"/>
                </a:solidFill>
                <a:latin typeface="Inter"/>
              </a:defRPr>
            </a:pPr>
            <a:r>
              <a:t>94%</a:t>
            </a:r>
          </a:p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Resolution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023360"/>
            <a:ext cx="4297680" cy="82296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0"/>
              </a:spcAft>
              <a:defRPr sz="3000" b="1">
                <a:solidFill>
                  <a:srgbClr val="FF6B35"/>
                </a:solidFill>
                <a:latin typeface="Inter"/>
              </a:defRPr>
            </a:pPr>
            <a:r>
              <a:t>2.3 min</a:t>
            </a:r>
          </a:p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Avg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5074920"/>
            <a:ext cx="4297680" cy="82296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0"/>
              </a:spcAft>
              <a:defRPr sz="3000" b="1">
                <a:solidFill>
                  <a:srgbClr val="8B5CF6"/>
                </a:solidFill>
                <a:latin typeface="Inter"/>
              </a:defRPr>
            </a:pPr>
            <a:r>
              <a:t>4.8★</a:t>
            </a:r>
          </a:p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Member Satisfaction</a:t>
            </a:r>
          </a:p>
        </p:txBody>
      </p:sp>
      <p:sp>
        <p:nvSpPr>
          <p:cNvPr id="21" name="Oval 20"/>
          <p:cNvSpPr/>
          <p:nvPr/>
        </p:nvSpPr>
        <p:spPr>
          <a:xfrm>
            <a:off x="481568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7171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2775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8378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3981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95847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187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0791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6394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1997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551615" y="137160"/>
            <a:ext cx="457200" cy="320040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94A3B8"/>
                </a:solidFill>
                <a:latin typeface="Inter"/>
              </a:rPr>
              <a:t>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A1628"/>
            </a:gs>
            <a:gs pos="100000">
              <a:srgbClr val="10203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B6D4"/>
                </a:solidFill>
                <a:latin typeface="Inter"/>
              </a:defRPr>
              <a:lnSpc>
                <a:spcPct val="120000"/>
              </a:lnSpc>
            </a:pPr>
            <a:r>
              <a:t>🏠 Lighthouse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B981"/>
                </a:solidFill>
                <a:latin typeface="Inter"/>
              </a:defRPr>
              <a:lnSpc>
                <a:spcPct val="120000"/>
              </a:lnSpc>
            </a:pPr>
            <a:r>
              <a:t>Live  ·  Last updated: 2 min ago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2651760" cy="11887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200"/>
              </a:spcAft>
              <a:defRPr sz="3400" b="1">
                <a:solidFill>
                  <a:srgbClr val="06B6D4"/>
                </a:solidFill>
                <a:latin typeface="Inter"/>
              </a:defRPr>
            </a:pPr>
            <a:r>
              <a:t>47</a:t>
            </a: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Today's Discoveries</a:t>
            </a:r>
          </a:p>
          <a:p>
            <a:pPr>
              <a:defRPr sz="1100">
                <a:solidFill>
                  <a:srgbClr val="10B981"/>
                </a:solidFill>
                <a:latin typeface="JetBrains Mono"/>
              </a:defRPr>
            </a:pPr>
            <a:r>
              <a:t>↑ 12%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822960"/>
            <a:ext cx="2651760" cy="11887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200"/>
              </a:spcAft>
              <a:defRPr sz="3400" b="1">
                <a:solidFill>
                  <a:srgbClr val="8B5CF6"/>
                </a:solidFill>
                <a:latin typeface="Inter"/>
              </a:defRPr>
            </a:pPr>
            <a:r>
              <a:t>12</a:t>
            </a: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Active Conversations</a:t>
            </a:r>
          </a:p>
          <a:p>
            <a:pPr>
              <a:defRPr sz="1100">
                <a:solidFill>
                  <a:srgbClr val="10B981"/>
                </a:solidFill>
                <a:latin typeface="JetBrains Mono"/>
              </a:defRPr>
            </a:pPr>
            <a:r>
              <a:t>↑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822960"/>
            <a:ext cx="2651760" cy="11887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200"/>
              </a:spcAft>
              <a:defRPr sz="3400" b="1">
                <a:solidFill>
                  <a:srgbClr val="10B981"/>
                </a:solidFill>
                <a:latin typeface="Inter"/>
              </a:defRPr>
            </a:pPr>
            <a:r>
              <a:t>94%</a:t>
            </a: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Resolution Rate</a:t>
            </a:r>
          </a:p>
          <a:p>
            <a:pPr>
              <a:defRPr sz="1100">
                <a:solidFill>
                  <a:srgbClr val="10B981"/>
                </a:solidFill>
                <a:latin typeface="JetBrains Mono"/>
              </a:defRPr>
            </a:pPr>
            <a:r>
              <a:t>↑ 2.1%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822960"/>
            <a:ext cx="2651760" cy="11887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200"/>
              </a:spcAft>
              <a:defRPr sz="3400" b="1">
                <a:solidFill>
                  <a:srgbClr val="FF6B35"/>
                </a:solidFill>
                <a:latin typeface="Inter"/>
              </a:defRPr>
            </a:pPr>
            <a:r>
              <a:t>2.3 min</a:t>
            </a: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Avg Response Time</a:t>
            </a:r>
          </a:p>
          <a:p>
            <a:pPr>
              <a:defRPr sz="1100">
                <a:solidFill>
                  <a:srgbClr val="10B981"/>
                </a:solidFill>
                <a:latin typeface="JetBrains Mono"/>
              </a:defRPr>
            </a:pPr>
            <a:r>
              <a:t>↓ 18%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40280"/>
            <a:ext cx="5669280" cy="21031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BD5E1"/>
                </a:solidFill>
                <a:latin typeface="Inter"/>
              </a:defRPr>
              <a:lnSpc>
                <a:spcPct val="120000"/>
              </a:lnSpc>
            </a:pPr>
            <a:r>
              <a:t>Pain Point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Claim Denied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2715768"/>
            <a:ext cx="3657600" cy="201168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03120" y="2715768"/>
            <a:ext cx="3108960" cy="20116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Coverage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017520"/>
            <a:ext cx="3657600" cy="201168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03120" y="3017520"/>
            <a:ext cx="2560320" cy="2011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009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Wait Times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3319272"/>
            <a:ext cx="3657600" cy="201168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03120" y="3319272"/>
            <a:ext cx="2194560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027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Billing 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3621024"/>
            <a:ext cx="3657600" cy="201168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03120" y="3621024"/>
            <a:ext cx="1645920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04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Provider Issue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3922776"/>
            <a:ext cx="3657600" cy="201168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03120" y="3922776"/>
            <a:ext cx="1280160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2240280"/>
            <a:ext cx="5577840" cy="21031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BD5E1"/>
                </a:solidFill>
                <a:latin typeface="Inter"/>
              </a:defRPr>
              <a:lnSpc>
                <a:spcPct val="120000"/>
              </a:lnSpc>
            </a:pPr>
            <a:r>
              <a:t>Sentiment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788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Inter"/>
              </a:defRPr>
              <a:lnSpc>
                <a:spcPct val="120000"/>
              </a:lnSpc>
            </a:pPr>
            <a:r>
              <a:t>62%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Positive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88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24%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Neutral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788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F4444"/>
                </a:solidFill>
                <a:latin typeface="Inter"/>
              </a:defRPr>
              <a:lnSpc>
                <a:spcPct val="120000"/>
              </a:lnSpc>
            </a:pPr>
            <a:r>
              <a:t>14%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Frustrated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3867912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14032" y="3899916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52944" y="385511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91856" y="3880713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30768" y="3835908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69680" y="3803904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08592" y="3791102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47504" y="3816705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86416" y="377190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25328" y="3752697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65760" y="4526280"/>
            <a:ext cx="11430000" cy="201168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BD5E1"/>
                </a:solidFill>
                <a:latin typeface="Inter"/>
              </a:defRPr>
              <a:lnSpc>
                <a:spcPct val="120000"/>
              </a:lnSpc>
            </a:pPr>
            <a:r>
              <a:t>Recent Member Interactions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37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Name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49377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Source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937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Pain 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937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Priority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937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Status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5212080"/>
            <a:ext cx="109728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303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Sarah 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0" y="53035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Reddit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53035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Claim denied after surgery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53035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F4444"/>
                </a:solidFill>
                <a:latin typeface="JetBrains Mono"/>
              </a:defRPr>
              <a:lnSpc>
                <a:spcPct val="120000"/>
              </a:lnSpc>
            </a:pPr>
            <a:r>
              <a:t>🔴 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303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0B981"/>
                </a:solidFill>
                <a:latin typeface="JetBrains Mono"/>
              </a:defRPr>
              <a:lnSpc>
                <a:spcPct val="120000"/>
              </a:lnSpc>
            </a:pPr>
            <a:r>
              <a:t>✅ Called - Resolved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577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John 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55778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Facebook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55778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Coverage confusion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577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59E0B"/>
                </a:solidFill>
                <a:latin typeface="JetBrains Mono"/>
              </a:defRPr>
              <a:lnSpc>
                <a:spcPct val="120000"/>
              </a:lnSpc>
            </a:pPr>
            <a:r>
              <a:t>🟡 Medium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5577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JetBrains Mono"/>
              </a:defRPr>
              <a:lnSpc>
                <a:spcPct val="120000"/>
              </a:lnSpc>
            </a:pPr>
            <a:r>
              <a:t>💬 SMS sent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852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Maria L.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0" y="58521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LinkedIn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5852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Premium increase question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58521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59E0B"/>
                </a:solidFill>
                <a:latin typeface="JetBrains Mono"/>
              </a:defRPr>
              <a:lnSpc>
                <a:spcPct val="120000"/>
              </a:lnSpc>
            </a:pPr>
            <a:r>
              <a:t>🟡 Medium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852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JetBrains Mono"/>
              </a:defRPr>
              <a:lnSpc>
                <a:spcPct val="120000"/>
              </a:lnSpc>
            </a:pPr>
            <a:r>
              <a:t>📧 Email sent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126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Robert K.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0" y="612648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Reddit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61264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Prior auth nightmare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0" y="61264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F4444"/>
                </a:solidFill>
                <a:latin typeface="JetBrains Mono"/>
              </a:defRPr>
              <a:lnSpc>
                <a:spcPct val="120000"/>
              </a:lnSpc>
            </a:pPr>
            <a:r>
              <a:t>🔴 High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6126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6B6D4"/>
                </a:solidFill>
                <a:latin typeface="JetBrains Mono"/>
              </a:defRPr>
              <a:lnSpc>
                <a:spcPct val="120000"/>
              </a:lnSpc>
            </a:pPr>
            <a:r>
              <a:t>📞 In conversation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6400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Lisa T.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60320" y="64008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Blog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0" y="64008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JetBrains Mono"/>
              </a:defRPr>
              <a:lnSpc>
                <a:spcPct val="120000"/>
              </a:lnSpc>
            </a:pPr>
            <a:r>
              <a:t>Plan comparison help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64008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0B981"/>
                </a:solidFill>
                <a:latin typeface="JetBrains Mono"/>
              </a:defRPr>
              <a:lnSpc>
                <a:spcPct val="120000"/>
              </a:lnSpc>
            </a:pPr>
            <a:r>
              <a:t>🟢 Low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03920" y="6400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JetBrains Mono"/>
              </a:defRPr>
              <a:lnSpc>
                <a:spcPct val="120000"/>
              </a:lnSpc>
            </a:pPr>
            <a:r>
              <a:t>📧 Resources sent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6400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0B981"/>
                </a:solidFill>
                <a:latin typeface="Inter"/>
              </a:defRPr>
              <a:lnSpc>
                <a:spcPct val="120000"/>
              </a:lnSpc>
            </a:pPr>
            <a:r>
              <a:t>● This is all running right now</a:t>
            </a:r>
          </a:p>
        </p:txBody>
      </p:sp>
      <p:sp>
        <p:nvSpPr>
          <p:cNvPr id="78" name="Oval 77"/>
          <p:cNvSpPr/>
          <p:nvPr/>
        </p:nvSpPr>
        <p:spPr>
          <a:xfrm>
            <a:off x="481568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07171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2775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58378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83981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09584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51879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60791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86394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11997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551615" y="137160"/>
            <a:ext cx="457200" cy="320040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94A3B8"/>
                </a:solidFill>
                <a:latin typeface="Inter"/>
              </a:rPr>
              <a:t>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50B18"/>
            </a:gs>
            <a:gs pos="100000">
              <a:srgbClr val="0A16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The Voice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6B6D4"/>
                </a:solidFill>
                <a:latin typeface="Inter"/>
              </a:defRPr>
              <a:lnSpc>
                <a:spcPct val="120000"/>
              </a:lnSpc>
            </a:pPr>
            <a:r>
              <a:t>QualifyOS + Summit Voice AI  ·  The voice people actually want to talk to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Inter"/>
              </a:defRPr>
            </a:pPr>
            <a:r>
              <a:t>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813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24/7 Multilingual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1907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90+ languages, real-time translation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Inter"/>
              </a:defRPr>
            </a:pPr>
            <a:r>
              <a:t>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585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Empathetic, Not Robotic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9631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Trained on real member conversations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Inter"/>
              </a:defRPr>
            </a:pPr>
            <a: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358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CMS-Trained for 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7355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Knows regulations, plans, terminology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Inter"/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813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Integrates with Any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507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CRM, EHR, claims, billing — all of it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Inter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902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Context-Aware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280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Remembers the full conversation arc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371600"/>
            <a:ext cx="5760720" cy="256032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06B6D4"/>
            </a:solidFill>
          </a:ln>
          <a:effectLst>
            <a:glow rad="127000">
              <a:srgbClr val="06B6D4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1920240"/>
            <a:ext cx="1371600" cy="137160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06B6D4"/>
            </a:solidFill>
          </a:ln>
          <a:effectLst>
            <a:glow rad="190500">
              <a:srgbClr val="06B6D4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0">
                <a:solidFill>
                  <a:srgbClr val="FFFFFF"/>
                </a:solidFill>
                <a:latin typeface="Inter"/>
              </a:defRPr>
            </a:pPr>
            <a:r>
              <a:t>🎙️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51760"/>
            <a:ext cx="109728" cy="182880"/>
          </a:xfrm>
          <a:prstGeom prst="roundRect">
            <a:avLst/>
          </a:prstGeom>
          <a:solidFill>
            <a:srgbClr val="06B6D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583180"/>
            <a:ext cx="109728" cy="320040"/>
          </a:xfrm>
          <a:prstGeom prst="roundRect">
            <a:avLst/>
          </a:prstGeom>
          <a:solidFill>
            <a:srgbClr val="06B6D4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0" y="2514600"/>
            <a:ext cx="109728" cy="457200"/>
          </a:xfrm>
          <a:prstGeom prst="roundRect">
            <a:avLst/>
          </a:prstGeom>
          <a:solidFill>
            <a:srgbClr val="06B6D4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0" y="2560320"/>
            <a:ext cx="109728" cy="365760"/>
          </a:xfrm>
          <a:prstGeom prst="roundRect">
            <a:avLst/>
          </a:prstGeom>
          <a:solidFill>
            <a:srgbClr val="06B6D4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0" y="2468880"/>
            <a:ext cx="109728" cy="548640"/>
          </a:xfrm>
          <a:prstGeom prst="roundRect">
            <a:avLst/>
          </a:prstGeom>
          <a:solidFill>
            <a:srgbClr val="06B6D4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0" y="2537460"/>
            <a:ext cx="109728" cy="411480"/>
          </a:xfrm>
          <a:prstGeom prst="roundRect">
            <a:avLst/>
          </a:prstGeom>
          <a:solidFill>
            <a:srgbClr val="06B6D4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2491740"/>
            <a:ext cx="109728" cy="502920"/>
          </a:xfrm>
          <a:prstGeom prst="roundRect">
            <a:avLst/>
          </a:prstGeom>
          <a:solidFill>
            <a:srgbClr val="06B6D4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0" y="2606040"/>
            <a:ext cx="109728" cy="274320"/>
          </a:xfrm>
          <a:prstGeom prst="roundRect">
            <a:avLst/>
          </a:prstGeom>
          <a:solidFill>
            <a:srgbClr val="06B6D4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60" y="2537460"/>
            <a:ext cx="109728" cy="411480"/>
          </a:xfrm>
          <a:prstGeom prst="roundRect">
            <a:avLst/>
          </a:prstGeom>
          <a:solidFill>
            <a:srgbClr val="06B6D4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2514600"/>
            <a:ext cx="109728" cy="457200"/>
          </a:xfrm>
          <a:prstGeom prst="roundRect">
            <a:avLst/>
          </a:prstGeom>
          <a:solidFill>
            <a:srgbClr val="06B6D4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0" y="2583180"/>
            <a:ext cx="109728" cy="320040"/>
          </a:xfrm>
          <a:prstGeom prst="roundRect">
            <a:avLst/>
          </a:prstGeom>
          <a:solidFill>
            <a:srgbClr val="06B6D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0" y="2628900"/>
            <a:ext cx="109728" cy="228600"/>
          </a:xfrm>
          <a:prstGeom prst="roundRect">
            <a:avLst/>
          </a:prstGeom>
          <a:solidFill>
            <a:srgbClr val="06B6D4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0" y="2560320"/>
            <a:ext cx="109728" cy="365760"/>
          </a:xfrm>
          <a:prstGeom prst="roundRect">
            <a:avLst/>
          </a:prstGeom>
          <a:solidFill>
            <a:srgbClr val="06B6D4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95360" y="2491740"/>
            <a:ext cx="109728" cy="502920"/>
          </a:xfrm>
          <a:prstGeom prst="roundRect">
            <a:avLst/>
          </a:prstGeom>
          <a:solidFill>
            <a:srgbClr val="06B6D4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78240" y="2606040"/>
            <a:ext cx="109728" cy="274320"/>
          </a:xfrm>
          <a:prstGeom prst="roundRect">
            <a:avLst/>
          </a:prstGeom>
          <a:solidFill>
            <a:srgbClr val="06B6D4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0" y="4297680"/>
            <a:ext cx="5760720" cy="219456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389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Inter"/>
              </a:defRPr>
              <a:lnSpc>
                <a:spcPct val="120000"/>
              </a:lnSpc>
            </a:pPr>
            <a:r>
              <a:t>SAMPLE CONVERSATION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663440"/>
            <a:ext cx="4389120" cy="64008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Inter"/>
              </a:defRPr>
            </a:pPr>
            <a:r>
              <a:t>👤 Member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"I'm confused about my prescription coverage... my pharmacy said my meds aren't covered anymore?"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5440680"/>
            <a:ext cx="4389120" cy="82296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🤖 Lighthouse AI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"I understand how frustrating that must be. Let me pull up your specific plan and walk through your options. There may be alternatives we can find that are fully covered."</a:t>
            </a:r>
          </a:p>
        </p:txBody>
      </p:sp>
      <p:sp>
        <p:nvSpPr>
          <p:cNvPr id="40" name="Oval 39"/>
          <p:cNvSpPr/>
          <p:nvPr/>
        </p:nvSpPr>
        <p:spPr>
          <a:xfrm>
            <a:off x="481568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171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2775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8378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3981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9584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5187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07911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86394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1997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551615" y="137160"/>
            <a:ext cx="457200" cy="320040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94A3B8"/>
                </a:solidFill>
                <a:latin typeface="Inter"/>
              </a:rPr>
              <a:t>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50B18"/>
            </a:gs>
            <a:gs pos="100000">
              <a:srgbClr val="0A16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Beyond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Same tech stack, different problems. This pattern works everywhere.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01168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>
              <a:spcAft>
                <a:spcPts val="400"/>
              </a:spcAft>
              <a:defRPr sz="3000"/>
            </a:pPr>
            <a:r>
              <a:t>🏠</a:t>
            </a:r>
          </a:p>
          <a:p>
            <a:pPr>
              <a:spcAft>
                <a:spcPts val="200"/>
              </a:spcAft>
              <a:defRPr sz="2000" b="1">
                <a:solidFill>
                  <a:srgbClr val="FF6B35"/>
                </a:solidFill>
                <a:latin typeface="Inter"/>
              </a:defRPr>
            </a:pPr>
            <a:r>
              <a:t>Roofing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Where it started</a:t>
            </a:r>
          </a:p>
          <a:p>
            <a:pPr>
              <a:defRPr sz="1400" b="1">
                <a:solidFill>
                  <a:srgbClr val="FFFFFF"/>
                </a:solidFill>
                <a:latin typeface="JetBrains Mono"/>
              </a:defRPr>
            </a:pPr>
            <a:r>
              <a:t>0% missed calls</a:t>
            </a:r>
            <a:br/>
            <a:r>
              <a:t>34% conversion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71600"/>
            <a:ext cx="3474720" cy="201168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>
              <a:spcAft>
                <a:spcPts val="400"/>
              </a:spcAft>
              <a:defRPr sz="3000"/>
            </a:pPr>
            <a:r>
              <a:t>🔧</a:t>
            </a:r>
          </a:p>
          <a:p>
            <a:pPr>
              <a:spcAft>
                <a:spcPts val="200"/>
              </a:spcAft>
              <a:defRPr sz="2000" b="1">
                <a:solidFill>
                  <a:srgbClr val="06B6D4"/>
                </a:solidFill>
                <a:latin typeface="Inter"/>
              </a:defRPr>
            </a:pPr>
            <a:r>
              <a:t>Home Services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HVAC, plumbing, electric</a:t>
            </a:r>
          </a:p>
          <a:p>
            <a:pPr>
              <a:defRPr sz="1400" b="1">
                <a:solidFill>
                  <a:srgbClr val="FFFFFF"/>
                </a:solidFill>
                <a:latin typeface="JetBrains Mono"/>
              </a:defRPr>
            </a:pPr>
            <a:r>
              <a:t>24/7 booking</a:t>
            </a:r>
            <a:br/>
            <a:r>
              <a:t>3x lead volume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71600"/>
            <a:ext cx="3474720" cy="201168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>
              <a:spcAft>
                <a:spcPts val="400"/>
              </a:spcAft>
              <a:defRPr sz="3000"/>
            </a:pPr>
            <a:r>
              <a:t>🛡️</a:t>
            </a:r>
          </a:p>
          <a:p>
            <a:pPr>
              <a:spcAft>
                <a:spcPts val="200"/>
              </a:spcAft>
              <a:defRPr sz="2000" b="1">
                <a:solidFill>
                  <a:srgbClr val="8B5CF6"/>
                </a:solidFill>
                <a:latin typeface="Inter"/>
              </a:defRPr>
            </a:pPr>
            <a:r>
              <a:t>Insurance Brokers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Independent agents</a:t>
            </a:r>
          </a:p>
          <a:p>
            <a:pPr>
              <a:defRPr sz="1400" b="1">
                <a:solidFill>
                  <a:srgbClr val="FFFFFF"/>
                </a:solidFill>
                <a:latin typeface="JetBrains Mono"/>
              </a:defRPr>
            </a:pPr>
            <a:r>
              <a:t>Automated quoting</a:t>
            </a:r>
            <a:br/>
            <a:r>
              <a:t>60% time saved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40"/>
            <a:ext cx="3474720" cy="201168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>
              <a:spcAft>
                <a:spcPts val="400"/>
              </a:spcAft>
              <a:defRPr sz="3000"/>
            </a:pPr>
            <a:r>
              <a:t>📞</a:t>
            </a:r>
          </a:p>
          <a:p>
            <a:pPr>
              <a:spcAft>
                <a:spcPts val="200"/>
              </a:spcAft>
              <a:defRPr sz="2000" b="1">
                <a:solidFill>
                  <a:srgbClr val="EF4444"/>
                </a:solidFill>
                <a:latin typeface="Inter"/>
              </a:defRPr>
            </a:pPr>
            <a:r>
              <a:t>Call Centers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Enterprise support</a:t>
            </a:r>
          </a:p>
          <a:p>
            <a:pPr>
              <a:defRPr sz="1400" b="1">
                <a:solidFill>
                  <a:srgbClr val="FFFFFF"/>
                </a:solidFill>
                <a:latin typeface="JetBrains Mono"/>
              </a:defRPr>
            </a:pPr>
            <a:r>
              <a:t>87% automation</a:t>
            </a:r>
            <a:br/>
            <a:r>
              <a:t>$2M+ saved/yr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749040"/>
            <a:ext cx="3474720" cy="201168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>
              <a:spcAft>
                <a:spcPts val="400"/>
              </a:spcAft>
              <a:defRPr sz="3000"/>
            </a:pPr>
            <a:r>
              <a:t>🎧</a:t>
            </a:r>
          </a:p>
          <a:p>
            <a:pPr>
              <a:spcAft>
                <a:spcPts val="200"/>
              </a:spcAft>
              <a:defRPr sz="2000" b="1">
                <a:solidFill>
                  <a:srgbClr val="10B981"/>
                </a:solidFill>
                <a:latin typeface="Inter"/>
              </a:defRPr>
            </a:pPr>
            <a:r>
              <a:t>Customer Service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Any industry</a:t>
            </a:r>
          </a:p>
          <a:p>
            <a:pPr>
              <a:defRPr sz="1400" b="1">
                <a:solidFill>
                  <a:srgbClr val="FFFFFF"/>
                </a:solidFill>
                <a:latin typeface="JetBrains Mono"/>
              </a:defRPr>
            </a:pPr>
            <a:r>
              <a:t>&lt; 30s response</a:t>
            </a:r>
            <a:br/>
            <a:r>
              <a:t>95% satisfaction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749040"/>
            <a:ext cx="3474720" cy="201168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>
              <a:spcAft>
                <a:spcPts val="400"/>
              </a:spcAft>
              <a:defRPr sz="3000"/>
            </a:pPr>
            <a:r>
              <a:t>🏗️</a:t>
            </a:r>
          </a:p>
          <a:p>
            <a:pPr>
              <a:spcAft>
                <a:spcPts val="200"/>
              </a:spcAft>
              <a:defRPr sz="2000" b="1">
                <a:solidFill>
                  <a:srgbClr val="F59E0B"/>
                </a:solidFill>
                <a:latin typeface="Inter"/>
              </a:defRPr>
            </a:pPr>
            <a:r>
              <a:t>Complex Products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Finance, legal, tech</a:t>
            </a:r>
          </a:p>
          <a:p>
            <a:pPr>
              <a:defRPr sz="1400" b="1">
                <a:solidFill>
                  <a:srgbClr val="FFFFFF"/>
                </a:solidFill>
                <a:latin typeface="JetBrains Mono"/>
              </a:defRPr>
            </a:pPr>
            <a:r>
              <a:t>Guided journeys</a:t>
            </a:r>
            <a:br/>
            <a:r>
              <a:t>2x conversion</a:t>
            </a:r>
          </a:p>
        </p:txBody>
      </p:sp>
      <p:sp>
        <p:nvSpPr>
          <p:cNvPr id="10" name="Oval 9"/>
          <p:cNvSpPr/>
          <p:nvPr/>
        </p:nvSpPr>
        <p:spPr>
          <a:xfrm>
            <a:off x="481568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7171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2775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8378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981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9584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187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0791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63943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1997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551615" y="137160"/>
            <a:ext cx="457200" cy="320040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94A3B8"/>
                </a:solidFill>
                <a:latin typeface="Inter"/>
              </a:rPr>
              <a:t>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50B18"/>
            </a:gs>
            <a:gs pos="100000">
              <a:srgbClr val="0A16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  <a:lnSpc>
                <a:spcPct val="120000"/>
              </a:lnSpc>
            </a:pPr>
            <a: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Inter"/>
              </a:defRPr>
              <a:lnSpc>
                <a:spcPct val="120000"/>
              </a:lnSpc>
            </a:pPr>
            <a:r>
              <a:t>The n8n automation workflow that powers everything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920240" y="1805940.0"/>
            <a:ext cx="365760" cy="64008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2446020.0"/>
            <a:ext cx="365760" cy="45720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40" y="2446020.0"/>
            <a:ext cx="365760" cy="155448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749040" y="1805940.0"/>
            <a:ext cx="822960" cy="91440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749040" y="2720340.0"/>
            <a:ext cx="822960" cy="18288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749040" y="2720340.0"/>
            <a:ext cx="822960" cy="128016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35040" y="1805940.0"/>
            <a:ext cx="640080" cy="91440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720340.0"/>
            <a:ext cx="640080" cy="91440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" y="2720340.0"/>
            <a:ext cx="2468880" cy="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966960" y="1805940.0"/>
            <a:ext cx="365760" cy="91440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2720340.0"/>
            <a:ext cx="365760" cy="18288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66960" y="2720340.0"/>
            <a:ext cx="365760" cy="1280160.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201168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64748B"/>
            </a:solidFill>
          </a:ln>
          <a:effectLst>
            <a:glow rad="63500">
              <a:srgbClr val="64748B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64748B"/>
                </a:solidFill>
                <a:latin typeface="Inter"/>
              </a:defRPr>
            </a:pPr>
            <a:r>
              <a:t>⏰ Trigger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6 AM Daily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137160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FF6B35"/>
            </a:solidFill>
          </a:ln>
          <a:effectLst>
            <a:glow rad="63500">
              <a:srgbClr val="FF6B35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FF6B35"/>
                </a:solidFill>
                <a:latin typeface="Inter"/>
              </a:defRPr>
            </a:pPr>
            <a:r>
              <a:t>📡 Reddit API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Scan posts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246888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06B6D4"/>
            </a:solidFill>
          </a:ln>
          <a:effectLst>
            <a:glow rad="63500">
              <a:srgbClr val="06B6D4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06B6D4"/>
                </a:solidFill>
                <a:latin typeface="Inter"/>
              </a:defRPr>
            </a:pPr>
            <a:r>
              <a:t>📘 Facebook API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Scan groups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56616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8B5CF6"/>
            </a:solidFill>
          </a:ln>
          <a:effectLst>
            <a:glow rad="63500">
              <a:srgbClr val="8B5CF6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8B5CF6"/>
                </a:solidFill>
                <a:latin typeface="Inter"/>
              </a:defRPr>
            </a:pPr>
            <a:r>
              <a:t>💼 LinkedIn API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Scan threads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28600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06B6D4"/>
            </a:solidFill>
          </a:ln>
          <a:effectLst>
            <a:glow rad="63500">
              <a:srgbClr val="06B6D4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06B6D4"/>
                </a:solidFill>
                <a:latin typeface="Inter"/>
              </a:defRPr>
            </a:pPr>
            <a:r>
              <a:t>🧠 Claude AI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Analyze &amp;</a:t>
            </a:r>
            <a:br/>
            <a:r>
              <a:t>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37160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10B981"/>
            </a:solidFill>
          </a:ln>
          <a:effectLst>
            <a:glow rad="63500">
              <a:srgbClr val="10B981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10B981"/>
                </a:solidFill>
                <a:latin typeface="Inter"/>
              </a:defRPr>
            </a:pPr>
            <a:r>
              <a:t>📊 Google Sheets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Data store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20040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8B5CF6"/>
            </a:solidFill>
          </a:ln>
          <a:effectLst>
            <a:glow rad="63500">
              <a:srgbClr val="8B5CF6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8B5CF6"/>
                </a:solidFill>
                <a:latin typeface="Inter"/>
              </a:defRPr>
            </a:pPr>
            <a:r>
              <a:t>🗄️ CRM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Member 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28600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F59E0B"/>
            </a:solidFill>
          </a:ln>
          <a:effectLst>
            <a:glow rad="63500">
              <a:srgbClr val="F59E0B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F59E0B"/>
                </a:solidFill>
                <a:latin typeface="Inter"/>
              </a:defRPr>
            </a:pPr>
            <a:r>
              <a:t>🔀 Router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Priority</a:t>
            </a:r>
            <a:br/>
            <a:r>
              <a:t>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37160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EF4444"/>
            </a:solidFill>
          </a:ln>
          <a:effectLst>
            <a:glow rad="63500">
              <a:srgbClr val="EF4444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EF4444"/>
                </a:solidFill>
                <a:latin typeface="Inter"/>
              </a:defRPr>
            </a:pPr>
            <a:r>
              <a:t>📞 Voice AI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High priority</a:t>
            </a:r>
            <a:br/>
            <a:r>
              <a:t>calls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246888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FF6B35"/>
            </a:solidFill>
          </a:ln>
          <a:effectLst>
            <a:glow rad="63500">
              <a:srgbClr val="FF6B35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FF6B35"/>
                </a:solidFill>
                <a:latin typeface="Inter"/>
              </a:defRPr>
            </a:pPr>
            <a:r>
              <a:t>💬 SMS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Medium</a:t>
            </a:r>
            <a:br/>
            <a:r>
              <a:t>priority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32720" y="3566160"/>
            <a:ext cx="1463040" cy="86868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10B981"/>
            </a:solidFill>
          </a:ln>
          <a:effectLst>
            <a:glow rad="63500">
              <a:srgbClr val="10B981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100"/>
              </a:spcAft>
              <a:defRPr sz="1100" b="1">
                <a:solidFill>
                  <a:srgbClr val="10B981"/>
                </a:solidFill>
                <a:latin typeface="Inter"/>
              </a:defRPr>
            </a:pPr>
            <a:r>
              <a:t>📧 Email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Lower</a:t>
            </a:r>
            <a:br/>
            <a:r>
              <a:t>priority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200400"/>
            <a:ext cx="2377440" cy="59436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6B6D4"/>
                </a:solidFill>
                <a:latin typeface="Inter"/>
              </a:defRPr>
            </a:pPr>
            <a:r>
              <a:t>Runs every morning</a:t>
            </a:r>
            <a:br/>
            <a:r>
              <a:t>at 6 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4206240"/>
            <a:ext cx="2377440" cy="59436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6B6D4"/>
                </a:solidFill>
                <a:latin typeface="Inter"/>
              </a:defRPr>
            </a:pPr>
            <a:r>
              <a:t>Claude analyzes sentiment</a:t>
            </a:r>
            <a:br/>
            <a:r>
              <a:t>and extracts pain points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206240"/>
            <a:ext cx="2377440" cy="59436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6B35"/>
                </a:solidFill>
                <a:latin typeface="Inter"/>
              </a:defRPr>
            </a:pPr>
            <a:r>
              <a:t>Routes high-priority</a:t>
            </a:r>
            <a:br/>
            <a:r>
              <a:t>to instant call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303520"/>
            <a:ext cx="9418320" cy="548640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CBD5E1"/>
                </a:solidFill>
                <a:latin typeface="Inter"/>
              </a:defRPr>
            </a:pPr>
            <a:r>
              <a:t>With tools like Claude Code, we prototype workflows like this in hours, not weeks.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6035040"/>
            <a:ext cx="1188720" cy="3200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n8n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6035040"/>
            <a:ext cx="1188720" cy="3200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Claude 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6035040"/>
            <a:ext cx="1188720" cy="3200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Voice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6035040"/>
            <a:ext cx="1188720" cy="3200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Google Sheets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6035040"/>
            <a:ext cx="1188720" cy="3200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Replit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6035040"/>
            <a:ext cx="1188720" cy="320040"/>
          </a:xfrm>
          <a:prstGeom prst="roundRect">
            <a:avLst/>
          </a:prstGeom>
          <a:solidFill>
            <a:srgbClr val="162A5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Inter"/>
              </a:defRPr>
            </a:pPr>
            <a:r>
              <a:t>Python</a:t>
            </a:r>
          </a:p>
        </p:txBody>
      </p:sp>
      <p:sp>
        <p:nvSpPr>
          <p:cNvPr id="37" name="Oval 36"/>
          <p:cNvSpPr/>
          <p:nvPr/>
        </p:nvSpPr>
        <p:spPr>
          <a:xfrm>
            <a:off x="481568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171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2775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378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39815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95847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1879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07911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63943" y="6537960"/>
            <a:ext cx="109728" cy="1097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975" y="6537960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551615" y="137160"/>
            <a:ext cx="457200" cy="320040"/>
          </a:xfrm>
          <a:prstGeom prst="round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94A3B8"/>
                </a:solidFill>
                <a:latin typeface="Inter"/>
              </a:rPr>
              <a:t>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